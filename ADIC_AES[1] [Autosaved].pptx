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47"/>
  </p:notesMasterIdLst>
  <p:sldIdLst>
    <p:sldId id="257" r:id="rId3"/>
    <p:sldId id="272" r:id="rId4"/>
    <p:sldId id="302" r:id="rId5"/>
    <p:sldId id="258" r:id="rId6"/>
    <p:sldId id="306" r:id="rId7"/>
    <p:sldId id="292" r:id="rId8"/>
    <p:sldId id="307" r:id="rId9"/>
    <p:sldId id="311" r:id="rId10"/>
    <p:sldId id="314" r:id="rId11"/>
    <p:sldId id="313" r:id="rId12"/>
    <p:sldId id="315" r:id="rId13"/>
    <p:sldId id="316" r:id="rId14"/>
    <p:sldId id="308" r:id="rId15"/>
    <p:sldId id="317" r:id="rId16"/>
    <p:sldId id="309" r:id="rId17"/>
    <p:sldId id="312" r:id="rId18"/>
    <p:sldId id="326" r:id="rId19"/>
    <p:sldId id="327" r:id="rId20"/>
    <p:sldId id="330" r:id="rId21"/>
    <p:sldId id="328" r:id="rId22"/>
    <p:sldId id="318" r:id="rId23"/>
    <p:sldId id="319" r:id="rId24"/>
    <p:sldId id="321" r:id="rId25"/>
    <p:sldId id="322" r:id="rId26"/>
    <p:sldId id="320" r:id="rId27"/>
    <p:sldId id="300" r:id="rId28"/>
    <p:sldId id="323" r:id="rId29"/>
    <p:sldId id="331" r:id="rId30"/>
    <p:sldId id="332" r:id="rId31"/>
    <p:sldId id="299" r:id="rId32"/>
    <p:sldId id="333" r:id="rId33"/>
    <p:sldId id="334" r:id="rId34"/>
    <p:sldId id="336" r:id="rId35"/>
    <p:sldId id="337" r:id="rId36"/>
    <p:sldId id="338" r:id="rId37"/>
    <p:sldId id="339" r:id="rId38"/>
    <p:sldId id="340" r:id="rId39"/>
    <p:sldId id="341" r:id="rId40"/>
    <p:sldId id="342" r:id="rId41"/>
    <p:sldId id="343" r:id="rId42"/>
    <p:sldId id="344" r:id="rId43"/>
    <p:sldId id="345" r:id="rId44"/>
    <p:sldId id="335" r:id="rId45"/>
    <p:sldId id="32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5588E56-AC89-42CF-8492-4697B2086807}">
          <p14:sldIdLst>
            <p14:sldId id="257"/>
            <p14:sldId id="272"/>
            <p14:sldId id="302"/>
            <p14:sldId id="258"/>
            <p14:sldId id="306"/>
            <p14:sldId id="292"/>
            <p14:sldId id="307"/>
            <p14:sldId id="311"/>
            <p14:sldId id="314"/>
            <p14:sldId id="313"/>
            <p14:sldId id="315"/>
            <p14:sldId id="316"/>
            <p14:sldId id="308"/>
            <p14:sldId id="317"/>
            <p14:sldId id="309"/>
            <p14:sldId id="312"/>
            <p14:sldId id="326"/>
            <p14:sldId id="327"/>
            <p14:sldId id="330"/>
            <p14:sldId id="328"/>
            <p14:sldId id="318"/>
            <p14:sldId id="319"/>
            <p14:sldId id="321"/>
            <p14:sldId id="322"/>
            <p14:sldId id="320"/>
            <p14:sldId id="300"/>
            <p14:sldId id="323"/>
            <p14:sldId id="331"/>
            <p14:sldId id="332"/>
            <p14:sldId id="299"/>
            <p14:sldId id="333"/>
            <p14:sldId id="334"/>
            <p14:sldId id="336"/>
            <p14:sldId id="337"/>
            <p14:sldId id="338"/>
            <p14:sldId id="339"/>
            <p14:sldId id="340"/>
            <p14:sldId id="341"/>
            <p14:sldId id="342"/>
            <p14:sldId id="343"/>
            <p14:sldId id="344"/>
            <p14:sldId id="345"/>
            <p14:sldId id="335"/>
            <p14:sldId id="325"/>
          </p14:sldIdLst>
        </p14:section>
      </p14:sectionLst>
    </p:ext>
    <p:ext uri="{EFAFB233-063F-42B5-8137-9DF3F51BA10A}">
      <p15:sldGuideLst xmlns:p15="http://schemas.microsoft.com/office/powerpoint/2012/main">
        <p15:guide id="1" orient="horz" pos="2160"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3774" autoAdjust="0"/>
  </p:normalViewPr>
  <p:slideViewPr>
    <p:cSldViewPr snapToGrid="0" showGuides="1">
      <p:cViewPr>
        <p:scale>
          <a:sx n="33" d="100"/>
          <a:sy n="33" d="100"/>
        </p:scale>
        <p:origin x="1948" y="672"/>
      </p:cViewPr>
      <p:guideLst>
        <p:guide orient="horz" pos="2160"/>
        <p:guide pos="382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7E90B9-698F-4753-9CCF-093F0042F4FC}" type="datetimeFigureOut">
              <a:rPr lang="en-IN" smtClean="0"/>
              <a:t>29-06-2025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60A535-7F5C-4475-B27B-C176BBA36A16}"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3</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5</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6</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7</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8</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9</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10</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11</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12</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13</a:t>
            </a:fld>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14</a:t>
            </a:fld>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15</a:t>
            </a:fld>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16</a:t>
            </a:fld>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17</a:t>
            </a:fld>
            <a:endParaRPr lang="en-I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18</a:t>
            </a:fld>
            <a:endParaRPr lang="en-I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19</a:t>
            </a:fld>
            <a:endParaRPr lang="en-I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20</a:t>
            </a:fld>
            <a:endParaRPr lang="en-I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21</a:t>
            </a:fld>
            <a:endParaRPr lang="en-I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22</a:t>
            </a:fld>
            <a:endParaRPr lang="en-I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23</a:t>
            </a:fld>
            <a:endParaRPr lang="en-I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24</a:t>
            </a:fld>
            <a:endParaRPr lang="en-I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25</a:t>
            </a:fld>
            <a:endParaRPr lang="en-I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26</a:t>
            </a:fld>
            <a:endParaRPr lang="en-I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27</a:t>
            </a:fld>
            <a:endParaRPr lang="en-I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28</a:t>
            </a:fld>
            <a:endParaRPr lang="en-I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29</a:t>
            </a:fld>
            <a:endParaRPr lang="en-I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30</a:t>
            </a:fld>
            <a:endParaRPr lang="en-I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C3DA1-523E-29DD-09DA-31AD64B5D9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58298-053F-7EC4-2799-E0EC22384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EF1E3-F420-0B96-F47B-65DF6EAD225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BDE935-C7F6-E1AB-43F7-4996D01D17E4}"/>
              </a:ext>
            </a:extLst>
          </p:cNvPr>
          <p:cNvSpPr>
            <a:spLocks noGrp="1"/>
          </p:cNvSpPr>
          <p:nvPr>
            <p:ph type="sldNum" sz="quarter" idx="5"/>
          </p:nvPr>
        </p:nvSpPr>
        <p:spPr/>
        <p:txBody>
          <a:bodyPr/>
          <a:lstStyle/>
          <a:p>
            <a:fld id="{E460A535-7F5C-4475-B27B-C176BBA36A16}" type="slidenum">
              <a:rPr lang="en-IN" smtClean="0"/>
              <a:t>31</a:t>
            </a:fld>
            <a:endParaRPr lang="en-IN"/>
          </a:p>
        </p:txBody>
      </p:sp>
    </p:spTree>
    <p:extLst>
      <p:ext uri="{BB962C8B-B14F-4D97-AF65-F5344CB8AC3E}">
        <p14:creationId xmlns:p14="http://schemas.microsoft.com/office/powerpoint/2010/main" val="2244460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0C6D1-41E4-01D0-1200-0919AD80AC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4FE07C-FB9C-A346-2268-3030069118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ECDC3F-9CB0-E5DC-10A9-8EF18C3B53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48EBE0F-D315-64EE-AB9A-59C1BF80588A}"/>
              </a:ext>
            </a:extLst>
          </p:cNvPr>
          <p:cNvSpPr>
            <a:spLocks noGrp="1"/>
          </p:cNvSpPr>
          <p:nvPr>
            <p:ph type="sldNum" sz="quarter" idx="5"/>
          </p:nvPr>
        </p:nvSpPr>
        <p:spPr/>
        <p:txBody>
          <a:bodyPr/>
          <a:lstStyle/>
          <a:p>
            <a:fld id="{E460A535-7F5C-4475-B27B-C176BBA36A16}" type="slidenum">
              <a:rPr lang="en-IN" smtClean="0"/>
              <a:t>32</a:t>
            </a:fld>
            <a:endParaRPr lang="en-IN"/>
          </a:p>
        </p:txBody>
      </p:sp>
    </p:spTree>
    <p:extLst>
      <p:ext uri="{BB962C8B-B14F-4D97-AF65-F5344CB8AC3E}">
        <p14:creationId xmlns:p14="http://schemas.microsoft.com/office/powerpoint/2010/main" val="12689876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6D60-AD72-C8E7-F719-928D34642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4EABB-3CCE-382F-78E7-FC6256FB4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8D390-E682-C3E1-AE3D-63646E2872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7DA8783-5894-6D36-15F4-585D7D09580C}"/>
              </a:ext>
            </a:extLst>
          </p:cNvPr>
          <p:cNvSpPr>
            <a:spLocks noGrp="1"/>
          </p:cNvSpPr>
          <p:nvPr>
            <p:ph type="sldNum" sz="quarter" idx="5"/>
          </p:nvPr>
        </p:nvSpPr>
        <p:spPr/>
        <p:txBody>
          <a:bodyPr/>
          <a:lstStyle/>
          <a:p>
            <a:fld id="{E460A535-7F5C-4475-B27B-C176BBA36A16}" type="slidenum">
              <a:rPr lang="en-IN" smtClean="0"/>
              <a:t>33</a:t>
            </a:fld>
            <a:endParaRPr lang="en-IN"/>
          </a:p>
        </p:txBody>
      </p:sp>
    </p:spTree>
    <p:extLst>
      <p:ext uri="{BB962C8B-B14F-4D97-AF65-F5344CB8AC3E}">
        <p14:creationId xmlns:p14="http://schemas.microsoft.com/office/powerpoint/2010/main" val="35956518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02AFF-0617-84D5-89F9-62D631BEB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407E8-1ABB-65E0-5439-FC39B99C67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E341C-32B7-D756-B21E-80B12B9788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94BA601-C59E-0962-732F-0418C5A941EC}"/>
              </a:ext>
            </a:extLst>
          </p:cNvPr>
          <p:cNvSpPr>
            <a:spLocks noGrp="1"/>
          </p:cNvSpPr>
          <p:nvPr>
            <p:ph type="sldNum" sz="quarter" idx="5"/>
          </p:nvPr>
        </p:nvSpPr>
        <p:spPr/>
        <p:txBody>
          <a:bodyPr/>
          <a:lstStyle/>
          <a:p>
            <a:fld id="{E460A535-7F5C-4475-B27B-C176BBA36A16}" type="slidenum">
              <a:rPr lang="en-IN" smtClean="0"/>
              <a:t>34</a:t>
            </a:fld>
            <a:endParaRPr lang="en-IN"/>
          </a:p>
        </p:txBody>
      </p:sp>
    </p:spTree>
    <p:extLst>
      <p:ext uri="{BB962C8B-B14F-4D97-AF65-F5344CB8AC3E}">
        <p14:creationId xmlns:p14="http://schemas.microsoft.com/office/powerpoint/2010/main" val="22144568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ED0E-EA64-71B0-D593-E137B9AB4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FDB02C-B508-7356-5659-AB32BF042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F9DA9-D4B4-E947-C61D-152EA0A8E0C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20134BA-8B16-B60A-BCA4-EB127DEBAB9B}"/>
              </a:ext>
            </a:extLst>
          </p:cNvPr>
          <p:cNvSpPr>
            <a:spLocks noGrp="1"/>
          </p:cNvSpPr>
          <p:nvPr>
            <p:ph type="sldNum" sz="quarter" idx="5"/>
          </p:nvPr>
        </p:nvSpPr>
        <p:spPr/>
        <p:txBody>
          <a:bodyPr/>
          <a:lstStyle/>
          <a:p>
            <a:fld id="{E460A535-7F5C-4475-B27B-C176BBA36A16}" type="slidenum">
              <a:rPr lang="en-IN" smtClean="0"/>
              <a:t>35</a:t>
            </a:fld>
            <a:endParaRPr lang="en-IN"/>
          </a:p>
        </p:txBody>
      </p:sp>
    </p:spTree>
    <p:extLst>
      <p:ext uri="{BB962C8B-B14F-4D97-AF65-F5344CB8AC3E}">
        <p14:creationId xmlns:p14="http://schemas.microsoft.com/office/powerpoint/2010/main" val="1228260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B89D4-42C6-30B0-899D-9C2943B47D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53BF60-5C05-714D-ABE1-31EC711D8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08252-5F29-4A14-67F9-03A37FBD5F5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154C198-C7E5-0274-FBA1-6E323BAC6B5C}"/>
              </a:ext>
            </a:extLst>
          </p:cNvPr>
          <p:cNvSpPr>
            <a:spLocks noGrp="1"/>
          </p:cNvSpPr>
          <p:nvPr>
            <p:ph type="sldNum" sz="quarter" idx="5"/>
          </p:nvPr>
        </p:nvSpPr>
        <p:spPr/>
        <p:txBody>
          <a:bodyPr/>
          <a:lstStyle/>
          <a:p>
            <a:fld id="{E460A535-7F5C-4475-B27B-C176BBA36A16}" type="slidenum">
              <a:rPr lang="en-IN" smtClean="0"/>
              <a:t>36</a:t>
            </a:fld>
            <a:endParaRPr lang="en-IN"/>
          </a:p>
        </p:txBody>
      </p:sp>
    </p:spTree>
    <p:extLst>
      <p:ext uri="{BB962C8B-B14F-4D97-AF65-F5344CB8AC3E}">
        <p14:creationId xmlns:p14="http://schemas.microsoft.com/office/powerpoint/2010/main" val="41446413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659E0-F114-5367-7453-244C1D39F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BF360-C64F-C470-C70B-0CF0AC1B7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45FA62-E377-3098-08B6-360B54AB52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F55AE2-2C72-134D-0B03-116E1003B264}"/>
              </a:ext>
            </a:extLst>
          </p:cNvPr>
          <p:cNvSpPr>
            <a:spLocks noGrp="1"/>
          </p:cNvSpPr>
          <p:nvPr>
            <p:ph type="sldNum" sz="quarter" idx="5"/>
          </p:nvPr>
        </p:nvSpPr>
        <p:spPr/>
        <p:txBody>
          <a:bodyPr/>
          <a:lstStyle/>
          <a:p>
            <a:fld id="{E460A535-7F5C-4475-B27B-C176BBA36A16}" type="slidenum">
              <a:rPr lang="en-IN" smtClean="0"/>
              <a:t>37</a:t>
            </a:fld>
            <a:endParaRPr lang="en-IN"/>
          </a:p>
        </p:txBody>
      </p:sp>
    </p:spTree>
    <p:extLst>
      <p:ext uri="{BB962C8B-B14F-4D97-AF65-F5344CB8AC3E}">
        <p14:creationId xmlns:p14="http://schemas.microsoft.com/office/powerpoint/2010/main" val="36362732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FCF29-81BD-40CE-F93F-A96E8E84DA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1C0ED8-1459-160B-972A-FC63C6188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31385-BBDB-A52E-8898-D433CBADBEA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9DCEB0-8D86-A345-946F-47580113B899}"/>
              </a:ext>
            </a:extLst>
          </p:cNvPr>
          <p:cNvSpPr>
            <a:spLocks noGrp="1"/>
          </p:cNvSpPr>
          <p:nvPr>
            <p:ph type="sldNum" sz="quarter" idx="5"/>
          </p:nvPr>
        </p:nvSpPr>
        <p:spPr/>
        <p:txBody>
          <a:bodyPr/>
          <a:lstStyle/>
          <a:p>
            <a:fld id="{E460A535-7F5C-4475-B27B-C176BBA36A16}" type="slidenum">
              <a:rPr lang="en-IN" smtClean="0"/>
              <a:t>38</a:t>
            </a:fld>
            <a:endParaRPr lang="en-IN"/>
          </a:p>
        </p:txBody>
      </p:sp>
    </p:spTree>
    <p:extLst>
      <p:ext uri="{BB962C8B-B14F-4D97-AF65-F5344CB8AC3E}">
        <p14:creationId xmlns:p14="http://schemas.microsoft.com/office/powerpoint/2010/main" val="28000264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7546C-702F-7336-CA79-2A99B1B01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D2331-C3AC-9D2D-F0B4-B4BCB5B3A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FB2D11-0C60-210A-73DF-4B8918602F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FD813BD-E1CF-1D94-B179-3ED454EC3E72}"/>
              </a:ext>
            </a:extLst>
          </p:cNvPr>
          <p:cNvSpPr>
            <a:spLocks noGrp="1"/>
          </p:cNvSpPr>
          <p:nvPr>
            <p:ph type="sldNum" sz="quarter" idx="5"/>
          </p:nvPr>
        </p:nvSpPr>
        <p:spPr/>
        <p:txBody>
          <a:bodyPr/>
          <a:lstStyle/>
          <a:p>
            <a:fld id="{E460A535-7F5C-4475-B27B-C176BBA36A16}" type="slidenum">
              <a:rPr lang="en-IN" smtClean="0"/>
              <a:t>39</a:t>
            </a:fld>
            <a:endParaRPr lang="en-IN"/>
          </a:p>
        </p:txBody>
      </p:sp>
    </p:spTree>
    <p:extLst>
      <p:ext uri="{BB962C8B-B14F-4D97-AF65-F5344CB8AC3E}">
        <p14:creationId xmlns:p14="http://schemas.microsoft.com/office/powerpoint/2010/main" val="3364241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1FCA-334C-5A49-484F-D05964FCE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9C9E97-DF0E-2B19-ECA7-87BB88325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CE130-213D-FC98-D772-F7DC23DF1A3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D846690-D7C9-83D8-C0F5-3334A15B918A}"/>
              </a:ext>
            </a:extLst>
          </p:cNvPr>
          <p:cNvSpPr>
            <a:spLocks noGrp="1"/>
          </p:cNvSpPr>
          <p:nvPr>
            <p:ph type="sldNum" sz="quarter" idx="5"/>
          </p:nvPr>
        </p:nvSpPr>
        <p:spPr/>
        <p:txBody>
          <a:bodyPr/>
          <a:lstStyle/>
          <a:p>
            <a:fld id="{E460A535-7F5C-4475-B27B-C176BBA36A16}" type="slidenum">
              <a:rPr lang="en-IN" smtClean="0"/>
              <a:t>40</a:t>
            </a:fld>
            <a:endParaRPr lang="en-IN"/>
          </a:p>
        </p:txBody>
      </p:sp>
    </p:spTree>
    <p:extLst>
      <p:ext uri="{BB962C8B-B14F-4D97-AF65-F5344CB8AC3E}">
        <p14:creationId xmlns:p14="http://schemas.microsoft.com/office/powerpoint/2010/main" val="40658173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46F74-CBA8-5B6A-51C9-67E9151BB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8BA25-585E-E3D4-DBC5-55F862345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54849F-0E06-1C17-C5A9-9F6827ED03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70A4A56-5FE6-CB22-01E9-5337B39B55E7}"/>
              </a:ext>
            </a:extLst>
          </p:cNvPr>
          <p:cNvSpPr>
            <a:spLocks noGrp="1"/>
          </p:cNvSpPr>
          <p:nvPr>
            <p:ph type="sldNum" sz="quarter" idx="5"/>
          </p:nvPr>
        </p:nvSpPr>
        <p:spPr/>
        <p:txBody>
          <a:bodyPr/>
          <a:lstStyle/>
          <a:p>
            <a:fld id="{E460A535-7F5C-4475-B27B-C176BBA36A16}" type="slidenum">
              <a:rPr lang="en-IN" smtClean="0"/>
              <a:t>41</a:t>
            </a:fld>
            <a:endParaRPr lang="en-IN"/>
          </a:p>
        </p:txBody>
      </p:sp>
    </p:spTree>
    <p:extLst>
      <p:ext uri="{BB962C8B-B14F-4D97-AF65-F5344CB8AC3E}">
        <p14:creationId xmlns:p14="http://schemas.microsoft.com/office/powerpoint/2010/main" val="38763254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2D896-F992-64EF-BB96-5C5C80F6C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EA9DB-3CF0-B3E4-4B7C-5925EB626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40FE9-F5EC-E0D7-9515-29C66FBC3E5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3E2CFC-A644-493A-2D3B-8383E5A2098C}"/>
              </a:ext>
            </a:extLst>
          </p:cNvPr>
          <p:cNvSpPr>
            <a:spLocks noGrp="1"/>
          </p:cNvSpPr>
          <p:nvPr>
            <p:ph type="sldNum" sz="quarter" idx="5"/>
          </p:nvPr>
        </p:nvSpPr>
        <p:spPr/>
        <p:txBody>
          <a:bodyPr/>
          <a:lstStyle/>
          <a:p>
            <a:fld id="{E460A535-7F5C-4475-B27B-C176BBA36A16}" type="slidenum">
              <a:rPr lang="en-IN" smtClean="0"/>
              <a:t>42</a:t>
            </a:fld>
            <a:endParaRPr lang="en-IN"/>
          </a:p>
        </p:txBody>
      </p:sp>
    </p:spTree>
    <p:extLst>
      <p:ext uri="{BB962C8B-B14F-4D97-AF65-F5344CB8AC3E}">
        <p14:creationId xmlns:p14="http://schemas.microsoft.com/office/powerpoint/2010/main" val="31001817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411C-95E1-B785-C47D-2ED42D6403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E769DA-4F23-7972-0939-B9DD491A6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FDFEB-15C1-6A86-E39A-CDF3953CE6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D0DC1CF-7671-9EF8-D809-80B9A81B8283}"/>
              </a:ext>
            </a:extLst>
          </p:cNvPr>
          <p:cNvSpPr>
            <a:spLocks noGrp="1"/>
          </p:cNvSpPr>
          <p:nvPr>
            <p:ph type="sldNum" sz="quarter" idx="5"/>
          </p:nvPr>
        </p:nvSpPr>
        <p:spPr/>
        <p:txBody>
          <a:bodyPr/>
          <a:lstStyle/>
          <a:p>
            <a:fld id="{E460A535-7F5C-4475-B27B-C176BBA36A16}" type="slidenum">
              <a:rPr lang="en-IN" smtClean="0"/>
              <a:t>43</a:t>
            </a:fld>
            <a:endParaRPr lang="en-IN"/>
          </a:p>
        </p:txBody>
      </p:sp>
    </p:spTree>
    <p:extLst>
      <p:ext uri="{BB962C8B-B14F-4D97-AF65-F5344CB8AC3E}">
        <p14:creationId xmlns:p14="http://schemas.microsoft.com/office/powerpoint/2010/main" val="18957294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60A535-7F5C-4475-B27B-C176BBA36A16}" type="slidenum">
              <a:rPr lang="en-IN" smtClean="0"/>
              <a:t>44</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03D99A-A332-4DCC-90EE-C6B7071A5F40}"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D03D99A-A332-4DCC-90EE-C6B7071A5F40}" type="datetimeFigureOut">
              <a:rPr lang="en-IN" smtClean="0"/>
              <a:t>29-06-2025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D03D99A-A332-4DCC-90EE-C6B7071A5F40}" type="datetimeFigureOut">
              <a:rPr lang="en-IN" smtClean="0"/>
              <a:t>29-06-2025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03D99A-A332-4DCC-90EE-C6B7071A5F40}" type="datetimeFigureOut">
              <a:rPr lang="en-IN" smtClean="0"/>
              <a:t>29-06-2025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03D99A-A332-4DCC-90EE-C6B7071A5F40}"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03D99A-A332-4DCC-90EE-C6B7071A5F40}"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D03D99A-A332-4DCC-90EE-C6B7071A5F40}"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D03D99A-A332-4DCC-90EE-C6B7071A5F40}" type="datetimeFigureOut">
              <a:rPr lang="en-IN" smtClean="0"/>
              <a:t>29-06-2025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D03D99A-A332-4DCC-90EE-C6B7071A5F40}" type="datetimeFigureOut">
              <a:rPr lang="en-IN" smtClean="0"/>
              <a:t>29-06-2025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03D99A-A332-4DCC-90EE-C6B7071A5F40}" type="datetimeFigureOut">
              <a:rPr lang="en-IN" smtClean="0"/>
              <a:t>29-06-2025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03D99A-A332-4DCC-90EE-C6B7071A5F40}"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03D99A-A332-4DCC-90EE-C6B7071A5F40}" type="datetimeFigureOut">
              <a:rPr lang="en-IN" smtClean="0"/>
              <a:t>29-06-2025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D03D99A-A332-4DCC-90EE-C6B7071A5F40}" type="datetimeFigureOut">
              <a:rPr lang="en-IN" smtClean="0"/>
              <a:t>29-06-2025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A230137-7873-49D5-99F3-540A64A50F6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03D99A-A332-4DCC-90EE-C6B7071A5F40}" type="datetimeFigureOut">
              <a:rPr lang="en-IN" smtClean="0"/>
              <a:t>29-06-2025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230137-7873-49D5-99F3-540A64A50F6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03D99A-A332-4DCC-90EE-C6B7071A5F40}" type="datetimeFigureOut">
              <a:rPr lang="en-IN" smtClean="0"/>
              <a:t>29-06-2025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230137-7873-49D5-99F3-540A64A50F6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2" cstate="print"/>
          <a:stretch>
            <a:fillRect/>
          </a:stretch>
        </p:blipFill>
        <p:spPr>
          <a:xfrm>
            <a:off x="297425" y="129151"/>
            <a:ext cx="4460555" cy="682010"/>
          </a:xfrm>
          <a:prstGeom prst="rect">
            <a:avLst/>
          </a:prstGeom>
        </p:spPr>
      </p:pic>
      <p:sp>
        <p:nvSpPr>
          <p:cNvPr id="5" name="object 3"/>
          <p:cNvSpPr/>
          <p:nvPr/>
        </p:nvSpPr>
        <p:spPr>
          <a:xfrm>
            <a:off x="271615" y="863678"/>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3" name="Title 12"/>
          <p:cNvSpPr>
            <a:spLocks noGrp="1"/>
          </p:cNvSpPr>
          <p:nvPr>
            <p:ph type="title"/>
          </p:nvPr>
        </p:nvSpPr>
        <p:spPr>
          <a:xfrm>
            <a:off x="542145" y="1491538"/>
            <a:ext cx="11107710" cy="1585985"/>
          </a:xfrm>
        </p:spPr>
        <p:txBody>
          <a:bodyPr>
            <a:normAutofit fontScale="90000"/>
          </a:bodyPr>
          <a:lstStyle/>
          <a:p>
            <a:r>
              <a:rPr lang="en-IN" sz="3600" b="1" dirty="0"/>
              <a:t>                                            </a:t>
            </a:r>
            <a:r>
              <a:rPr lang="en-IN" sz="3600" b="1" dirty="0">
                <a:latin typeface="Times New Roman" panose="02020603050405020304" pitchFamily="18" charset="0"/>
                <a:cs typeface="Times New Roman" panose="02020603050405020304" pitchFamily="18" charset="0"/>
              </a:rPr>
              <a:t>TEAM NO : 26</a:t>
            </a:r>
            <a:br>
              <a:rPr lang="en-IN" dirty="0"/>
            </a:br>
            <a:r>
              <a:rPr lang="en-IN" sz="3600" b="1" dirty="0">
                <a:latin typeface="Times New Roman" panose="02020603050405020304" pitchFamily="18" charset="0"/>
                <a:cs typeface="Times New Roman" panose="02020603050405020304" pitchFamily="18" charset="0"/>
              </a:rPr>
              <a:t>TITLE : FPGA IMPLEMENTATION OF AES ALGORITHM  </a:t>
            </a:r>
            <a:br>
              <a:rPr lang="en-IN" sz="3110" b="1" dirty="0">
                <a:latin typeface="Times New Roman" panose="02020603050405020304" pitchFamily="18" charset="0"/>
                <a:cs typeface="Times New Roman" panose="02020603050405020304" pitchFamily="18" charset="0"/>
              </a:rPr>
            </a:br>
            <a:endParaRPr lang="en-IN" sz="3110" b="1" dirty="0">
              <a:latin typeface="Times New Roman" panose="02020603050405020304" pitchFamily="18" charset="0"/>
              <a:cs typeface="Times New Roman" panose="02020603050405020304" pitchFamily="18" charset="0"/>
            </a:endParaRPr>
          </a:p>
        </p:txBody>
      </p:sp>
      <p:sp>
        <p:nvSpPr>
          <p:cNvPr id="14" name="Content Placeholder 13"/>
          <p:cNvSpPr>
            <a:spLocks noGrp="1"/>
          </p:cNvSpPr>
          <p:nvPr>
            <p:ph idx="1"/>
          </p:nvPr>
        </p:nvSpPr>
        <p:spPr>
          <a:xfrm>
            <a:off x="542145" y="3223647"/>
            <a:ext cx="19831411" cy="3505202"/>
          </a:xfrm>
        </p:spPr>
        <p:txBody>
          <a:bodyPr/>
          <a:lstStyle/>
          <a:p>
            <a:pPr marL="0" indent="0">
              <a:buNone/>
            </a:pPr>
            <a:r>
              <a:rPr lang="en-IN" b="1" dirty="0">
                <a:latin typeface="Times New Roman" panose="02020603050405020304" pitchFamily="18" charset="0"/>
                <a:cs typeface="Times New Roman" panose="02020603050405020304" pitchFamily="18" charset="0"/>
              </a:rPr>
              <a:t>Students Details :</a:t>
            </a:r>
          </a:p>
          <a:p>
            <a:pPr marL="0" indent="0">
              <a:buNone/>
            </a:pPr>
            <a:endParaRPr lang="en-IN" b="1" dirty="0"/>
          </a:p>
          <a:p>
            <a:pPr marL="0" indent="0">
              <a:buNone/>
            </a:pPr>
            <a:endParaRPr lang="en-IN" b="1" dirty="0"/>
          </a:p>
          <a:p>
            <a:pPr marL="0" indent="0">
              <a:buNone/>
            </a:pPr>
            <a:endParaRPr lang="en-IN" b="1" dirty="0"/>
          </a:p>
          <a:p>
            <a:pPr marL="0" indent="0">
              <a:buNone/>
            </a:pPr>
            <a:endParaRPr lang="en-IN" b="1" dirty="0"/>
          </a:p>
          <a:p>
            <a:pPr marL="0" indent="0">
              <a:buNone/>
            </a:pPr>
            <a:r>
              <a:rPr lang="en-IN" b="1" dirty="0">
                <a:latin typeface="Times New Roman" panose="02020603050405020304" pitchFamily="18" charset="0"/>
                <a:cs typeface="Times New Roman" panose="02020603050405020304" pitchFamily="18" charset="0"/>
              </a:rPr>
              <a:t>Guide : Prof. Rajeshwari M.</a:t>
            </a:r>
          </a:p>
        </p:txBody>
      </p:sp>
      <p:graphicFrame>
        <p:nvGraphicFramePr>
          <p:cNvPr id="2" name="Table 1"/>
          <p:cNvGraphicFramePr>
            <a:graphicFrameLocks noGrp="1"/>
          </p:cNvGraphicFramePr>
          <p:nvPr/>
        </p:nvGraphicFramePr>
        <p:xfrm>
          <a:off x="666427" y="3766089"/>
          <a:ext cx="10083045" cy="2031319"/>
        </p:xfrm>
        <a:graphic>
          <a:graphicData uri="http://schemas.openxmlformats.org/drawingml/2006/table">
            <a:tbl>
              <a:tblPr firstRow="1" bandRow="1">
                <a:tableStyleId>{5C22544A-7EE6-4342-B048-85BDC9FD1C3A}</a:tableStyleId>
              </a:tblPr>
              <a:tblGrid>
                <a:gridCol w="1489212">
                  <a:extLst>
                    <a:ext uri="{9D8B030D-6E8A-4147-A177-3AD203B41FA5}">
                      <a16:colId xmlns:a16="http://schemas.microsoft.com/office/drawing/2014/main" val="20000"/>
                    </a:ext>
                  </a:extLst>
                </a:gridCol>
                <a:gridCol w="5232819">
                  <a:extLst>
                    <a:ext uri="{9D8B030D-6E8A-4147-A177-3AD203B41FA5}">
                      <a16:colId xmlns:a16="http://schemas.microsoft.com/office/drawing/2014/main" val="20001"/>
                    </a:ext>
                  </a:extLst>
                </a:gridCol>
                <a:gridCol w="3361014">
                  <a:extLst>
                    <a:ext uri="{9D8B030D-6E8A-4147-A177-3AD203B41FA5}">
                      <a16:colId xmlns:a16="http://schemas.microsoft.com/office/drawing/2014/main" val="20002"/>
                    </a:ext>
                  </a:extLst>
                </a:gridCol>
              </a:tblGrid>
              <a:tr h="480447">
                <a:tc>
                  <a:txBody>
                    <a:bodyPr/>
                    <a:lstStyle/>
                    <a:p>
                      <a:r>
                        <a:rPr lang="en-IN" dirty="0">
                          <a:latin typeface="Times New Roman" panose="02020603050405020304" pitchFamily="18" charset="0"/>
                          <a:cs typeface="Times New Roman" panose="02020603050405020304" pitchFamily="18" charset="0"/>
                        </a:rPr>
                        <a:t>S.NO.</a:t>
                      </a:r>
                    </a:p>
                  </a:txBody>
                  <a:tcPr/>
                </a:tc>
                <a:tc>
                  <a:txBody>
                    <a:bodyPr/>
                    <a:lstStyle/>
                    <a:p>
                      <a:r>
                        <a:rPr lang="en-IN" dirty="0">
                          <a:latin typeface="Times New Roman" panose="02020603050405020304" pitchFamily="18" charset="0"/>
                          <a:cs typeface="Times New Roman" panose="02020603050405020304" pitchFamily="18" charset="0"/>
                        </a:rPr>
                        <a:t>NAME</a:t>
                      </a:r>
                    </a:p>
                  </a:txBody>
                  <a:tcPr/>
                </a:tc>
                <a:tc>
                  <a:txBody>
                    <a:bodyPr/>
                    <a:lstStyle/>
                    <a:p>
                      <a:r>
                        <a:rPr lang="en-IN" dirty="0">
                          <a:latin typeface="Times New Roman" panose="02020603050405020304" pitchFamily="18" charset="0"/>
                          <a:cs typeface="Times New Roman" panose="02020603050405020304" pitchFamily="18" charset="0"/>
                        </a:rPr>
                        <a:t>USN</a:t>
                      </a:r>
                    </a:p>
                  </a:txBody>
                  <a:tcPr/>
                </a:tc>
                <a:extLst>
                  <a:ext uri="{0D108BD9-81ED-4DB2-BD59-A6C34878D82A}">
                    <a16:rowId xmlns:a16="http://schemas.microsoft.com/office/drawing/2014/main" val="10000"/>
                  </a:ext>
                </a:extLst>
              </a:tr>
              <a:tr h="387718">
                <a:tc>
                  <a:txBody>
                    <a:bodyPr/>
                    <a:lstStyle/>
                    <a:p>
                      <a:r>
                        <a:rPr lang="en-IN" dirty="0">
                          <a:latin typeface="Times New Roman" panose="02020603050405020304" pitchFamily="18" charset="0"/>
                          <a:cs typeface="Times New Roman" panose="02020603050405020304" pitchFamily="18" charset="0"/>
                        </a:rPr>
                        <a:t>1</a:t>
                      </a:r>
                    </a:p>
                  </a:txBody>
                  <a:tcPr/>
                </a:tc>
                <a:tc>
                  <a:txBody>
                    <a:bodyPr/>
                    <a:lstStyle/>
                    <a:p>
                      <a:r>
                        <a:rPr lang="en-US" altLang="en-IN" dirty="0">
                          <a:latin typeface="Times New Roman" panose="02020603050405020304" pitchFamily="18" charset="0"/>
                          <a:cs typeface="Times New Roman" panose="02020603050405020304" pitchFamily="18" charset="0"/>
                        </a:rPr>
                        <a:t>Hema M Basaligundi</a:t>
                      </a:r>
                    </a:p>
                  </a:txBody>
                  <a:tcPr/>
                </a:tc>
                <a:tc>
                  <a:txBody>
                    <a:bodyPr/>
                    <a:lstStyle/>
                    <a:p>
                      <a:r>
                        <a:rPr lang="en-IN" dirty="0">
                          <a:latin typeface="Times New Roman" panose="02020603050405020304" pitchFamily="18" charset="0"/>
                          <a:cs typeface="Times New Roman" panose="02020603050405020304" pitchFamily="18" charset="0"/>
                        </a:rPr>
                        <a:t>01FE22BEC</a:t>
                      </a:r>
                      <a:r>
                        <a:rPr lang="en-US" altLang="en-IN" dirty="0">
                          <a:latin typeface="Times New Roman" panose="02020603050405020304" pitchFamily="18" charset="0"/>
                          <a:cs typeface="Times New Roman" panose="02020603050405020304" pitchFamily="18" charset="0"/>
                        </a:rPr>
                        <a:t>291</a:t>
                      </a:r>
                    </a:p>
                  </a:txBody>
                  <a:tcPr/>
                </a:tc>
                <a:extLst>
                  <a:ext uri="{0D108BD9-81ED-4DB2-BD59-A6C34878D82A}">
                    <a16:rowId xmlns:a16="http://schemas.microsoft.com/office/drawing/2014/main" val="10001"/>
                  </a:ext>
                </a:extLst>
              </a:tr>
              <a:tr h="387718">
                <a:tc>
                  <a:txBody>
                    <a:bodyPr/>
                    <a:lstStyle/>
                    <a:p>
                      <a:r>
                        <a:rPr lang="en-IN" dirty="0">
                          <a:latin typeface="Times New Roman" panose="02020603050405020304" pitchFamily="18" charset="0"/>
                          <a:cs typeface="Times New Roman" panose="02020603050405020304" pitchFamily="18" charset="0"/>
                        </a:rPr>
                        <a:t>2</a:t>
                      </a:r>
                    </a:p>
                  </a:txBody>
                  <a:tcPr/>
                </a:tc>
                <a:tc>
                  <a:txBody>
                    <a:bodyPr/>
                    <a:lstStyle/>
                    <a:p>
                      <a:r>
                        <a:rPr lang="en-US" altLang="en-IN" dirty="0">
                          <a:latin typeface="Times New Roman" panose="02020603050405020304" pitchFamily="18" charset="0"/>
                          <a:cs typeface="Times New Roman" panose="02020603050405020304" pitchFamily="18" charset="0"/>
                        </a:rPr>
                        <a:t>Haripriya G</a:t>
                      </a:r>
                    </a:p>
                  </a:txBody>
                  <a:tcPr/>
                </a:tc>
                <a:tc>
                  <a:txBody>
                    <a:bodyPr/>
                    <a:lstStyle/>
                    <a:p>
                      <a:r>
                        <a:rPr lang="en-IN" dirty="0">
                          <a:latin typeface="Times New Roman" panose="02020603050405020304" pitchFamily="18" charset="0"/>
                          <a:cs typeface="Times New Roman" panose="02020603050405020304" pitchFamily="18" charset="0"/>
                        </a:rPr>
                        <a:t>01FE22BEC</a:t>
                      </a:r>
                      <a:r>
                        <a:rPr lang="en-US" altLang="en-IN" dirty="0">
                          <a:latin typeface="Times New Roman" panose="02020603050405020304" pitchFamily="18" charset="0"/>
                          <a:cs typeface="Times New Roman" panose="02020603050405020304" pitchFamily="18" charset="0"/>
                        </a:rPr>
                        <a:t>295</a:t>
                      </a:r>
                    </a:p>
                  </a:txBody>
                  <a:tcPr/>
                </a:tc>
                <a:extLst>
                  <a:ext uri="{0D108BD9-81ED-4DB2-BD59-A6C34878D82A}">
                    <a16:rowId xmlns:a16="http://schemas.microsoft.com/office/drawing/2014/main" val="10002"/>
                  </a:ext>
                </a:extLst>
              </a:tr>
              <a:tr h="387718">
                <a:tc>
                  <a:txBody>
                    <a:bodyPr/>
                    <a:lstStyle/>
                    <a:p>
                      <a:r>
                        <a:rPr lang="en-IN" dirty="0">
                          <a:latin typeface="Times New Roman" panose="02020603050405020304" pitchFamily="18" charset="0"/>
                          <a:cs typeface="Times New Roman" panose="02020603050405020304" pitchFamily="18" charset="0"/>
                        </a:rPr>
                        <a:t>3</a:t>
                      </a:r>
                    </a:p>
                  </a:txBody>
                  <a:tcPr/>
                </a:tc>
                <a:tc>
                  <a:txBody>
                    <a:bodyPr/>
                    <a:lstStyle/>
                    <a:p>
                      <a:r>
                        <a:rPr lang="en-US" altLang="en-IN" dirty="0">
                          <a:latin typeface="Times New Roman" panose="02020603050405020304" pitchFamily="18" charset="0"/>
                          <a:cs typeface="Times New Roman" panose="02020603050405020304" pitchFamily="18" charset="0"/>
                        </a:rPr>
                        <a:t>Manupriya P</a:t>
                      </a:r>
                      <a:r>
                        <a:rPr lang="en-IN" dirty="0">
                          <a:latin typeface="Times New Roman" panose="02020603050405020304" pitchFamily="18" charset="0"/>
                          <a:cs typeface="Times New Roman" panose="02020603050405020304" pitchFamily="18" charset="0"/>
                        </a:rPr>
                        <a:t>.</a:t>
                      </a:r>
                    </a:p>
                  </a:txBody>
                  <a:tcPr/>
                </a:tc>
                <a:tc>
                  <a:txBody>
                    <a:bodyPr/>
                    <a:lstStyle/>
                    <a:p>
                      <a:r>
                        <a:rPr lang="en-IN" dirty="0">
                          <a:latin typeface="Times New Roman" panose="02020603050405020304" pitchFamily="18" charset="0"/>
                          <a:cs typeface="Times New Roman" panose="02020603050405020304" pitchFamily="18" charset="0"/>
                        </a:rPr>
                        <a:t>01FE22BE</a:t>
                      </a:r>
                      <a:r>
                        <a:rPr lang="en-US" altLang="en-IN" dirty="0">
                          <a:latin typeface="Times New Roman" panose="02020603050405020304" pitchFamily="18" charset="0"/>
                          <a:cs typeface="Times New Roman" panose="02020603050405020304" pitchFamily="18" charset="0"/>
                        </a:rPr>
                        <a:t>C303</a:t>
                      </a:r>
                    </a:p>
                  </a:txBody>
                  <a:tcPr/>
                </a:tc>
                <a:extLst>
                  <a:ext uri="{0D108BD9-81ED-4DB2-BD59-A6C34878D82A}">
                    <a16:rowId xmlns:a16="http://schemas.microsoft.com/office/drawing/2014/main" val="10003"/>
                  </a:ext>
                </a:extLst>
              </a:tr>
              <a:tr h="387718">
                <a:tc>
                  <a:txBody>
                    <a:bodyPr/>
                    <a:lstStyle/>
                    <a:p>
                      <a:r>
                        <a:rPr lang="en-IN" dirty="0">
                          <a:latin typeface="Times New Roman" panose="02020603050405020304" pitchFamily="18" charset="0"/>
                          <a:cs typeface="Times New Roman" panose="02020603050405020304" pitchFamily="18" charset="0"/>
                        </a:rPr>
                        <a:t>4</a:t>
                      </a:r>
                    </a:p>
                  </a:txBody>
                  <a:tcPr/>
                </a:tc>
                <a:tc>
                  <a:txBody>
                    <a:bodyPr/>
                    <a:lstStyle/>
                    <a:p>
                      <a:r>
                        <a:rPr lang="en-US" altLang="en-IN" dirty="0">
                          <a:latin typeface="Times New Roman" panose="02020603050405020304" pitchFamily="18" charset="0"/>
                          <a:cs typeface="Times New Roman" panose="02020603050405020304" pitchFamily="18" charset="0"/>
                        </a:rPr>
                        <a:t>Ganga I Aralikatti</a:t>
                      </a:r>
                      <a:r>
                        <a:rPr lang="en-IN" dirty="0">
                          <a:latin typeface="Times New Roman" panose="02020603050405020304" pitchFamily="18" charset="0"/>
                          <a:cs typeface="Times New Roman" panose="02020603050405020304" pitchFamily="18" charset="0"/>
                        </a:rPr>
                        <a:t>.</a:t>
                      </a:r>
                    </a:p>
                  </a:txBody>
                  <a:tcPr/>
                </a:tc>
                <a:tc>
                  <a:txBody>
                    <a:bodyPr/>
                    <a:lstStyle/>
                    <a:p>
                      <a:r>
                        <a:rPr lang="en-IN" dirty="0">
                          <a:latin typeface="Times New Roman" panose="02020603050405020304" pitchFamily="18" charset="0"/>
                          <a:cs typeface="Times New Roman" panose="02020603050405020304" pitchFamily="18" charset="0"/>
                        </a:rPr>
                        <a:t>01FE22BE</a:t>
                      </a:r>
                      <a:r>
                        <a:rPr lang="en-US" altLang="en-IN" dirty="0">
                          <a:latin typeface="Times New Roman" panose="02020603050405020304" pitchFamily="18" charset="0"/>
                          <a:cs typeface="Times New Roman" panose="02020603050405020304" pitchFamily="18" charset="0"/>
                        </a:rPr>
                        <a:t>C306</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 name="object 6"/>
          <p:cNvSpPr txBox="1">
            <a:spLocks noGrp="1"/>
          </p:cNvSpPr>
          <p:nvPr>
            <p:ph type="title"/>
          </p:nvPr>
        </p:nvSpPr>
        <p:spPr>
          <a:xfrm>
            <a:off x="297425" y="1138699"/>
            <a:ext cx="3685235" cy="514670"/>
          </a:xfrm>
          <a:prstGeom prst="rect">
            <a:avLst/>
          </a:prstGeom>
        </p:spPr>
        <p:txBody>
          <a:bodyPr vert="horz" wrap="square" lIns="0" tIns="22013" rIns="0" bIns="0" rtlCol="0" anchor="ctr">
            <a:spAutoFit/>
          </a:bodyPr>
          <a:lstStyle/>
          <a:p>
            <a:pPr marL="17145">
              <a:lnSpc>
                <a:spcPct val="100000"/>
              </a:lnSpc>
              <a:spcBef>
                <a:spcPts val="175"/>
              </a:spcBef>
            </a:pPr>
            <a:r>
              <a:rPr lang="en-IN" sz="3200" b="1" dirty="0">
                <a:latin typeface="Times New Roman" panose="02020603050405020304" pitchFamily="18" charset="0"/>
                <a:cs typeface="Times New Roman" panose="02020603050405020304" pitchFamily="18" charset="0"/>
              </a:rPr>
              <a:t>CONTENTS :</a:t>
            </a:r>
          </a:p>
        </p:txBody>
      </p:sp>
      <p:sp>
        <p:nvSpPr>
          <p:cNvPr id="7" name="object 7"/>
          <p:cNvSpPr txBox="1"/>
          <p:nvPr/>
        </p:nvSpPr>
        <p:spPr>
          <a:xfrm>
            <a:off x="297425" y="2048510"/>
            <a:ext cx="7827244" cy="1744922"/>
          </a:xfrm>
          <a:prstGeom prst="rect">
            <a:avLst/>
          </a:prstGeom>
        </p:spPr>
        <p:txBody>
          <a:bodyPr vert="horz" wrap="square" lIns="0" tIns="21167" rIns="0" bIns="0" rtlCol="0">
            <a:spAutoFit/>
          </a:bodyPr>
          <a:lstStyle/>
          <a:p>
            <a:pPr marL="487045" indent="-470535">
              <a:spcBef>
                <a:spcPts val="165"/>
              </a:spcBef>
              <a:buFont typeface="Arial MT"/>
              <a:buChar char="•"/>
              <a:tabLst>
                <a:tab pos="486410" algn="l"/>
                <a:tab pos="487045" algn="l"/>
              </a:tabLst>
            </a:pPr>
            <a:r>
              <a:rPr sz="2800" spc="13" dirty="0">
                <a:latin typeface="Times New Roman" panose="02020603050405020304"/>
                <a:cs typeface="Times New Roman" panose="02020603050405020304"/>
              </a:rPr>
              <a:t>Introduction</a:t>
            </a:r>
            <a:endParaRPr sz="2800" dirty="0">
              <a:latin typeface="Times New Roman" panose="02020603050405020304"/>
              <a:cs typeface="Times New Roman" panose="02020603050405020304"/>
            </a:endParaRPr>
          </a:p>
          <a:p>
            <a:pPr marL="487045" indent="-470535">
              <a:spcBef>
                <a:spcPts val="5"/>
              </a:spcBef>
              <a:buFont typeface="Arial MT"/>
              <a:buChar char="•"/>
              <a:tabLst>
                <a:tab pos="486410" algn="l"/>
                <a:tab pos="487045" algn="l"/>
              </a:tabLst>
            </a:pPr>
            <a:r>
              <a:rPr sz="2800" spc="-40" dirty="0">
                <a:latin typeface="Times New Roman" panose="02020603050405020304"/>
                <a:cs typeface="Times New Roman" panose="02020603050405020304"/>
              </a:rPr>
              <a:t>L</a:t>
            </a:r>
            <a:r>
              <a:rPr sz="2800" spc="-47" dirty="0">
                <a:latin typeface="Times New Roman" panose="02020603050405020304"/>
                <a:cs typeface="Times New Roman" panose="02020603050405020304"/>
              </a:rPr>
              <a:t>i</a:t>
            </a:r>
            <a:r>
              <a:rPr sz="2800" spc="47" dirty="0">
                <a:latin typeface="Times New Roman" panose="02020603050405020304"/>
                <a:cs typeface="Times New Roman" panose="02020603050405020304"/>
              </a:rPr>
              <a:t>t</a:t>
            </a:r>
            <a:r>
              <a:rPr sz="2800" spc="13" dirty="0">
                <a:latin typeface="Times New Roman" panose="02020603050405020304"/>
                <a:cs typeface="Times New Roman" panose="02020603050405020304"/>
              </a:rPr>
              <a:t>era</a:t>
            </a:r>
            <a:r>
              <a:rPr sz="2800" spc="53" dirty="0">
                <a:latin typeface="Times New Roman" panose="02020603050405020304"/>
                <a:cs typeface="Times New Roman" panose="02020603050405020304"/>
              </a:rPr>
              <a:t>tu</a:t>
            </a:r>
            <a:r>
              <a:rPr sz="2800" spc="13" dirty="0">
                <a:latin typeface="Times New Roman" panose="02020603050405020304"/>
                <a:cs typeface="Times New Roman" panose="02020603050405020304"/>
              </a:rPr>
              <a:t>re</a:t>
            </a:r>
            <a:r>
              <a:rPr sz="2800" spc="-253" dirty="0">
                <a:latin typeface="Times New Roman" panose="02020603050405020304"/>
                <a:cs typeface="Times New Roman" panose="02020603050405020304"/>
              </a:rPr>
              <a:t> </a:t>
            </a:r>
            <a:r>
              <a:rPr sz="2800" spc="20" dirty="0">
                <a:latin typeface="Times New Roman" panose="02020603050405020304"/>
                <a:cs typeface="Times New Roman" panose="02020603050405020304"/>
              </a:rPr>
              <a:t>S</a:t>
            </a:r>
            <a:r>
              <a:rPr sz="2800" spc="53" dirty="0">
                <a:latin typeface="Times New Roman" panose="02020603050405020304"/>
                <a:cs typeface="Times New Roman" panose="02020603050405020304"/>
              </a:rPr>
              <a:t>u</a:t>
            </a:r>
            <a:r>
              <a:rPr sz="2800" spc="13" dirty="0">
                <a:latin typeface="Times New Roman" panose="02020603050405020304"/>
                <a:cs typeface="Times New Roman" panose="02020603050405020304"/>
              </a:rPr>
              <a:t>r</a:t>
            </a:r>
            <a:r>
              <a:rPr sz="2800" spc="-133" dirty="0">
                <a:latin typeface="Times New Roman" panose="02020603050405020304"/>
                <a:cs typeface="Times New Roman" panose="02020603050405020304"/>
              </a:rPr>
              <a:t>v</a:t>
            </a:r>
            <a:r>
              <a:rPr sz="2800" spc="13" dirty="0">
                <a:latin typeface="Times New Roman" panose="02020603050405020304"/>
                <a:cs typeface="Times New Roman" panose="02020603050405020304"/>
              </a:rPr>
              <a:t>ey</a:t>
            </a:r>
            <a:endParaRPr sz="2800" dirty="0">
              <a:latin typeface="Times New Roman" panose="02020603050405020304"/>
              <a:cs typeface="Times New Roman" panose="02020603050405020304"/>
            </a:endParaRPr>
          </a:p>
          <a:p>
            <a:pPr marL="487045" indent="-470535">
              <a:spcBef>
                <a:spcPts val="5"/>
              </a:spcBef>
              <a:buFont typeface="Arial MT"/>
              <a:buChar char="•"/>
              <a:tabLst>
                <a:tab pos="486410" algn="l"/>
                <a:tab pos="487045" algn="l"/>
              </a:tabLst>
            </a:pPr>
            <a:r>
              <a:rPr sz="2800" spc="7">
                <a:latin typeface="Times New Roman" panose="02020603050405020304"/>
                <a:cs typeface="Times New Roman" panose="02020603050405020304"/>
              </a:rPr>
              <a:t>Methodolo</a:t>
            </a:r>
            <a:r>
              <a:rPr lang="en-US" sz="2800" spc="7" dirty="0">
                <a:latin typeface="Times New Roman" panose="02020603050405020304"/>
                <a:cs typeface="Times New Roman" panose="02020603050405020304"/>
              </a:rPr>
              <a:t>gy</a:t>
            </a:r>
          </a:p>
          <a:p>
            <a:pPr marL="487045" indent="-470535">
              <a:spcBef>
                <a:spcPts val="5"/>
              </a:spcBef>
              <a:buFont typeface="Arial MT"/>
              <a:buChar char="•"/>
              <a:tabLst>
                <a:tab pos="486410" algn="l"/>
                <a:tab pos="487045" algn="l"/>
              </a:tabLst>
            </a:pPr>
            <a:r>
              <a:rPr lang="en-US" sz="2800" spc="7" dirty="0">
                <a:latin typeface="Times New Roman" panose="02020603050405020304"/>
                <a:cs typeface="Times New Roman" panose="02020603050405020304"/>
              </a:rPr>
              <a:t>Conclusion</a:t>
            </a:r>
            <a:endParaRPr sz="2800"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6" name="object 6"/>
          <p:cNvSpPr txBox="1">
            <a:spLocks noGrp="1"/>
          </p:cNvSpPr>
          <p:nvPr>
            <p:ph type="title"/>
          </p:nvPr>
        </p:nvSpPr>
        <p:spPr>
          <a:xfrm>
            <a:off x="297425" y="1139177"/>
            <a:ext cx="3685235" cy="513715"/>
          </a:xfrm>
          <a:prstGeom prst="rect">
            <a:avLst/>
          </a:prstGeom>
        </p:spPr>
        <p:txBody>
          <a:bodyPr vert="horz" wrap="square" lIns="0" tIns="22013" rIns="0" bIns="0" rtlCol="0" anchor="ctr">
            <a:spAutoFit/>
          </a:bodyPr>
          <a:lstStyle/>
          <a:p>
            <a:pPr marL="17145">
              <a:lnSpc>
                <a:spcPct val="100000"/>
              </a:lnSpc>
              <a:spcBef>
                <a:spcPts val="175"/>
              </a:spcBef>
            </a:pPr>
            <a:r>
              <a:rPr lang="en-IN" sz="3200" b="1" dirty="0">
                <a:latin typeface="Times New Roman" panose="02020603050405020304" pitchFamily="18" charset="0"/>
                <a:cs typeface="Times New Roman" panose="02020603050405020304" pitchFamily="18" charset="0"/>
              </a:rPr>
              <a:t>HISTORY</a:t>
            </a:r>
          </a:p>
        </p:txBody>
      </p:sp>
      <p:sp>
        <p:nvSpPr>
          <p:cNvPr id="7" name="object 7"/>
          <p:cNvSpPr txBox="1"/>
          <p:nvPr/>
        </p:nvSpPr>
        <p:spPr>
          <a:xfrm>
            <a:off x="297180" y="2048510"/>
            <a:ext cx="11415395" cy="4445000"/>
          </a:xfrm>
          <a:prstGeom prst="rect">
            <a:avLst/>
          </a:prstGeom>
        </p:spPr>
        <p:txBody>
          <a:bodyPr vert="horz" wrap="square" lIns="0" tIns="21167" rIns="0" bIns="0" rtlCol="0">
            <a:noAutofit/>
          </a:bodyPr>
          <a:lstStyle/>
          <a:p>
            <a:pPr marL="487045" indent="-470535">
              <a:spcBef>
                <a:spcPts val="165"/>
              </a:spcBef>
              <a:buFont typeface="Arial MT"/>
              <a:buChar char="•"/>
              <a:tabLst>
                <a:tab pos="486410" algn="l"/>
                <a:tab pos="487045" algn="l"/>
              </a:tabLst>
            </a:pPr>
            <a:r>
              <a:rPr lang="en-US" altLang="en-US" sz="2400" dirty="0">
                <a:latin typeface="Times New Roman" panose="02020603050405020304"/>
                <a:cs typeface="Times New Roman" panose="02020603050405020304"/>
              </a:rPr>
              <a:t>An older cryptography algorithm was the Data Encryption Standard (DES).</a:t>
            </a:r>
          </a:p>
          <a:p>
            <a:pPr marL="487045" indent="-470535">
              <a:spcBef>
                <a:spcPts val="165"/>
              </a:spcBef>
              <a:buFont typeface="Arial MT"/>
              <a:buChar char="•"/>
              <a:tabLst>
                <a:tab pos="486410" algn="l"/>
                <a:tab pos="487045" algn="l"/>
              </a:tabLst>
            </a:pPr>
            <a:r>
              <a:rPr lang="en-IN" altLang="en-US" sz="2400" dirty="0">
                <a:latin typeface="Times New Roman" panose="02020603050405020304"/>
                <a:cs typeface="Times New Roman" panose="02020603050405020304"/>
              </a:rPr>
              <a:t>For </a:t>
            </a:r>
            <a:r>
              <a:rPr lang="en-US" altLang="en-US" sz="2400" dirty="0">
                <a:latin typeface="Times New Roman" panose="02020603050405020304"/>
                <a:cs typeface="Times New Roman" panose="02020603050405020304"/>
              </a:rPr>
              <a:t>security products, DES algorithm was widely used. Such that from the year 1977, the Data Encryption Standard has been used as the standard algorithm however, just because of the very small key size of only 56 bits, it can be easily hacked and cracked. Because of this reason,in September 1997 an institute known as the National Institute of Standards and Technology (NIST) announced for new different algorithms.</a:t>
            </a:r>
          </a:p>
          <a:p>
            <a:pPr marL="487045" indent="-470535">
              <a:spcBef>
                <a:spcPts val="165"/>
              </a:spcBef>
              <a:buFont typeface="Arial MT"/>
              <a:buChar char="•"/>
              <a:tabLst>
                <a:tab pos="486410" algn="l"/>
                <a:tab pos="487045" algn="l"/>
              </a:tabLst>
            </a:pPr>
            <a:r>
              <a:rPr lang="en-US" altLang="en-US" sz="2400" dirty="0">
                <a:latin typeface="Times New Roman" panose="02020603050405020304"/>
                <a:cs typeface="Times New Roman" panose="02020603050405020304"/>
              </a:rPr>
              <a:t>In 1998,15 AES algorithms were declared as security alhorithms.</a:t>
            </a:r>
          </a:p>
          <a:p>
            <a:pPr marL="487045" indent="-470535">
              <a:spcBef>
                <a:spcPts val="165"/>
              </a:spcBef>
              <a:buFont typeface="Arial MT"/>
              <a:buChar char="•"/>
              <a:tabLst>
                <a:tab pos="486410" algn="l"/>
                <a:tab pos="487045" algn="l"/>
              </a:tabLst>
            </a:pPr>
            <a:r>
              <a:rPr lang="en-US" altLang="en-US" sz="2400" dirty="0">
                <a:latin typeface="Times New Roman" panose="02020603050405020304"/>
                <a:cs typeface="Times New Roman" panose="02020603050405020304"/>
              </a:rPr>
              <a:t>At last, on 2 October, 2000, the Rijndael algorithm (Dr.Joan Damen,Dr.Vincent Rijmen)was selected, that was announced by the NIST.</a:t>
            </a:r>
          </a:p>
          <a:p>
            <a:pPr marL="487045" indent="-470535">
              <a:spcBef>
                <a:spcPts val="165"/>
              </a:spcBef>
              <a:buFont typeface="Arial MT"/>
              <a:buChar char="•"/>
              <a:tabLst>
                <a:tab pos="486410" algn="l"/>
                <a:tab pos="487045" algn="l"/>
              </a:tabLst>
            </a:pPr>
            <a:r>
              <a:rPr lang="en-US" altLang="en-US" sz="2400" dirty="0">
                <a:latin typeface="Times New Roman" panose="02020603050405020304"/>
                <a:cs typeface="Times New Roman" panose="02020603050405020304"/>
              </a:rPr>
              <a:t>In November 2001, the NIST declared the Advanced Encryption Standard (AES) [02] algorithm as the perfect</a:t>
            </a:r>
            <a:r>
              <a:rPr lang="en-IN" altLang="en-US" sz="2400" dirty="0">
                <a:latin typeface="Times New Roman" panose="02020603050405020304"/>
                <a:cs typeface="Times New Roman" panose="02020603050405020304"/>
              </a:rPr>
              <a:t> </a:t>
            </a:r>
            <a:r>
              <a:rPr lang="en-US" altLang="en-US" sz="2400" dirty="0">
                <a:latin typeface="Times New Roman" panose="02020603050405020304"/>
                <a:cs typeface="Times New Roman" panose="02020603050405020304"/>
              </a:rPr>
              <a:t>security algorithm replac</a:t>
            </a:r>
            <a:r>
              <a:rPr lang="en-IN" altLang="en-US" sz="2400" dirty="0">
                <a:latin typeface="Times New Roman" panose="02020603050405020304"/>
                <a:cs typeface="Times New Roman" panose="02020603050405020304"/>
              </a:rPr>
              <a:t>ing</a:t>
            </a:r>
            <a:r>
              <a:rPr lang="en-US" altLang="en-US" sz="2400" dirty="0">
                <a:latin typeface="Times New Roman" panose="02020603050405020304"/>
                <a:cs typeface="Times New Roman" panose="02020603050405020304"/>
              </a:rPr>
              <a:t> the DES algorithm</a:t>
            </a:r>
            <a:r>
              <a:rPr lang="en-IN" altLang="en-US" sz="2400" dirty="0">
                <a:latin typeface="Times New Roman" panose="02020603050405020304"/>
                <a:cs typeface="Times New Roman" panose="02020603050405020304"/>
              </a:rPr>
              <a:t>.</a:t>
            </a:r>
            <a:endParaRPr lang="en-US" altLang="en-US" sz="2400" dirty="0">
              <a:latin typeface="Times New Roman" panose="02020603050405020304"/>
              <a:cs typeface="Times New Roman" panose="02020603050405020304"/>
            </a:endParaRPr>
          </a:p>
          <a:p>
            <a:pPr marL="487045" indent="-470535">
              <a:spcBef>
                <a:spcPts val="165"/>
              </a:spcBef>
              <a:buFont typeface="Arial MT"/>
              <a:buChar char="•"/>
              <a:tabLst>
                <a:tab pos="486410" algn="l"/>
                <a:tab pos="487045" algn="l"/>
              </a:tabLst>
            </a:pPr>
            <a:endParaRPr lang="en-US" altLang="en-US" sz="2400" dirty="0">
              <a:latin typeface="Times New Roman" panose="02020603050405020304"/>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2"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2" name="Title 1"/>
          <p:cNvSpPr>
            <a:spLocks noGrp="1"/>
          </p:cNvSpPr>
          <p:nvPr>
            <p:ph type="title"/>
          </p:nvPr>
        </p:nvSpPr>
        <p:spPr>
          <a:xfrm>
            <a:off x="297425" y="1138699"/>
            <a:ext cx="11056375" cy="551989"/>
          </a:xfrm>
        </p:spPr>
        <p:txBody>
          <a:bodyPr>
            <a:normAutofit/>
          </a:bodyPr>
          <a:lstStyle/>
          <a:p>
            <a:r>
              <a:rPr lang="en-IN" sz="32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1690688"/>
            <a:ext cx="10515599" cy="4486275"/>
          </a:xfrm>
        </p:spPr>
        <p:txBody>
          <a:bodyPr>
            <a:normAutofit fontScale="25000" lnSpcReduction="20000"/>
          </a:bodyPr>
          <a:lstStyle/>
          <a:p>
            <a:pPr algn="just">
              <a:buNone/>
            </a:pPr>
            <a:r>
              <a:rPr lang="en-IN" sz="11200" b="1" dirty="0">
                <a:latin typeface="Times New Roman" panose="02020603050405020304" pitchFamily="18" charset="0"/>
                <a:cs typeface="Times New Roman" panose="02020603050405020304" pitchFamily="18" charset="0"/>
              </a:rPr>
              <a:t>AES (Advanced Encryption Standard)</a:t>
            </a:r>
          </a:p>
          <a:p>
            <a:pPr algn="just"/>
            <a:r>
              <a:rPr lang="en-US" sz="9500" dirty="0">
                <a:latin typeface="Times New Roman" panose="02020603050405020304" pitchFamily="18" charset="0"/>
                <a:cs typeface="Times New Roman" panose="02020603050405020304" pitchFamily="18" charset="0"/>
              </a:rPr>
              <a:t>An AES is the most popular security algorithm and it is required to improve the performance of AES with increasing the demand of internet security.</a:t>
            </a:r>
          </a:p>
          <a:p>
            <a:pPr algn="just"/>
            <a:r>
              <a:rPr lang="en-US" sz="9500" dirty="0">
                <a:latin typeface="Times New Roman" panose="02020603050405020304" pitchFamily="18" charset="0"/>
                <a:cs typeface="Times New Roman" panose="02020603050405020304" pitchFamily="18" charset="0"/>
              </a:rPr>
              <a:t>AES is a symmetric key algorithm in which only one key is requires for encryption and decryption process, key must be same.  </a:t>
            </a:r>
          </a:p>
          <a:p>
            <a:pPr algn="just"/>
            <a:r>
              <a:rPr lang="en-US" altLang="en-US" sz="9500" dirty="0">
                <a:latin typeface="Times New Roman" panose="02020603050405020304" pitchFamily="18" charset="0"/>
                <a:cs typeface="Times New Roman" panose="02020603050405020304" pitchFamily="18" charset="0"/>
              </a:rPr>
              <a:t>It is developed by the National Institute of Standards and Technology (NIST) in 2001. </a:t>
            </a:r>
          </a:p>
          <a:p>
            <a:pPr algn="just">
              <a:buFont typeface="Arial" panose="020B0604020202020204" pitchFamily="34" charset="0"/>
              <a:buChar char="•"/>
            </a:pPr>
            <a:r>
              <a:rPr lang="en-US" altLang="en-US" sz="9500" dirty="0">
                <a:latin typeface="Times New Roman" panose="02020603050405020304" pitchFamily="18" charset="0"/>
                <a:cs typeface="Times New Roman" panose="02020603050405020304" pitchFamily="18" charset="0"/>
              </a:rPr>
              <a:t>AES encryption uses various key lengths (128, 192, or 256 bits) to provide strong protection against unauthorized access. </a:t>
            </a:r>
          </a:p>
          <a:p>
            <a:pPr algn="just">
              <a:buFont typeface="Arial" panose="020B0604020202020204" pitchFamily="34" charset="0"/>
              <a:buChar char="•"/>
            </a:pPr>
            <a:r>
              <a:rPr lang="en-US" altLang="en-US" sz="9500" dirty="0">
                <a:latin typeface="Times New Roman" panose="02020603050405020304" pitchFamily="18" charset="0"/>
                <a:cs typeface="Times New Roman" panose="02020603050405020304" pitchFamily="18" charset="0"/>
              </a:rPr>
              <a:t>This data security measure is efficient and widely implemented in securing internet communication, protecting sensitive data, and encrypting files. </a:t>
            </a:r>
          </a:p>
          <a:p>
            <a:pPr algn="just">
              <a:buFont typeface="Arial" panose="020B0604020202020204" pitchFamily="34" charset="0"/>
              <a:buChar char="•"/>
            </a:pPr>
            <a:r>
              <a:rPr lang="en-US" altLang="en-US" sz="9500" dirty="0">
                <a:latin typeface="Times New Roman" panose="02020603050405020304" pitchFamily="18" charset="0"/>
                <a:cs typeface="Times New Roman" panose="02020603050405020304" pitchFamily="18" charset="0"/>
              </a:rPr>
              <a:t>AES is a Block Cipher</a:t>
            </a:r>
            <a:r>
              <a:rPr lang="en-IN" altLang="en-US" sz="9500" dirty="0">
                <a:latin typeface="Times New Roman" panose="02020603050405020304" pitchFamily="18" charset="0"/>
                <a:cs typeface="Times New Roman" panose="02020603050405020304" pitchFamily="18" charset="0"/>
              </a:rPr>
              <a:t> since </a:t>
            </a:r>
            <a:r>
              <a:rPr lang="en-US" altLang="en-US" sz="9500" dirty="0">
                <a:latin typeface="Times New Roman" panose="02020603050405020304" pitchFamily="18" charset="0"/>
                <a:cs typeface="Times New Roman" panose="02020603050405020304" pitchFamily="18" charset="0"/>
              </a:rPr>
              <a:t>AES performs operations on bytes of data rather than in bits.</a:t>
            </a:r>
          </a:p>
          <a:p>
            <a:pPr algn="just">
              <a:buFont typeface="Arial" panose="020B0604020202020204" pitchFamily="34" charset="0"/>
              <a:buChar char="•"/>
            </a:pPr>
            <a:endParaRPr lang="en-US" altLang="en-US" sz="6000" dirty="0">
              <a:latin typeface="Arial" panose="020B0604020202020204" pitchFamily="34" charset="0"/>
              <a:cs typeface="Arial" panose="020B0604020202020204" pitchFamily="34" charset="0"/>
            </a:endParaRPr>
          </a:p>
          <a:p>
            <a:pPr marL="0" indent="0" algn="just">
              <a:buFont typeface="Arial" panose="020B0604020202020204" pitchFamily="34" charset="0"/>
              <a:buNone/>
            </a:pPr>
            <a:endParaRPr lang="en-US" altLang="en-US" sz="6000" dirty="0">
              <a:latin typeface="Arial" panose="020B0604020202020204" pitchFamily="34" charset="0"/>
              <a:cs typeface="Arial" panose="020B0604020202020204" pitchFamily="34" charset="0"/>
            </a:endParaRPr>
          </a:p>
          <a:p>
            <a:pPr marL="0" indent="0" algn="just">
              <a:buNone/>
            </a:pPr>
            <a:endParaRPr lang="en-IN" sz="6000" dirty="0">
              <a:latin typeface="Arial" panose="020B0604020202020204" pitchFamily="34" charset="0"/>
              <a:cs typeface="Arial" panose="020B0604020202020204" pitchFamily="34" charset="0"/>
            </a:endParaRPr>
          </a:p>
          <a:p>
            <a:pPr marL="0" indent="0" algn="just">
              <a:buNone/>
            </a:pPr>
            <a:endParaRPr lang="en-IN" sz="60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algn="just">
              <a:buFont typeface="Arial" panose="020B0604020202020204" pitchFamily="34" charset="0"/>
              <a:buChar char="•"/>
            </a:pPr>
            <a:r>
              <a:rPr lang="en-IN" altLang="en-US" sz="2400" dirty="0">
                <a:latin typeface="Arial" panose="020B0604020202020204" pitchFamily="34" charset="0"/>
                <a:cs typeface="Arial" panose="020B0604020202020204" pitchFamily="34" charset="0"/>
                <a:sym typeface="+mn-ea"/>
              </a:rPr>
              <a:t> </a:t>
            </a:r>
            <a:r>
              <a:rPr lang="en-US" altLang="en-US" sz="2400" dirty="0">
                <a:latin typeface="Times New Roman" panose="02020603050405020304" pitchFamily="18" charset="0"/>
                <a:cs typeface="Times New Roman" panose="02020603050405020304" pitchFamily="18" charset="0"/>
                <a:sym typeface="+mn-ea"/>
              </a:rPr>
              <a:t>The first process is encryption which converts the original plain text into secured text which is </a:t>
            </a:r>
            <a:r>
              <a:rPr lang="en-IN" altLang="en-US" sz="2400" dirty="0">
                <a:latin typeface="Times New Roman" panose="02020603050405020304" pitchFamily="18" charset="0"/>
                <a:cs typeface="Times New Roman" panose="02020603050405020304" pitchFamily="18" charset="0"/>
                <a:sym typeface="+mn-ea"/>
              </a:rPr>
              <a:t>  </a:t>
            </a:r>
            <a:r>
              <a:rPr lang="en-US" altLang="en-US" sz="2400" dirty="0">
                <a:latin typeface="Times New Roman" panose="02020603050405020304" pitchFamily="18" charset="0"/>
                <a:cs typeface="Times New Roman" panose="02020603050405020304" pitchFamily="18" charset="0"/>
                <a:sym typeface="+mn-ea"/>
              </a:rPr>
              <a:t>called as cipher text. </a:t>
            </a:r>
            <a:endParaRPr lang="en-US" altLang="en-US" sz="2400" dirty="0">
              <a:latin typeface="Times New Roman" panose="02020603050405020304" pitchFamily="18" charset="0"/>
              <a:cs typeface="Times New Roman" panose="02020603050405020304" pitchFamily="18" charset="0"/>
            </a:endParaRPr>
          </a:p>
          <a:p>
            <a:pPr indent="0" algn="just">
              <a:buFont typeface="Arial" panose="020B0604020202020204" pitchFamily="34" charset="0"/>
              <a:buChar char="•"/>
            </a:pPr>
            <a:r>
              <a:rPr lang="en-IN" altLang="en-US" sz="2400" dirty="0">
                <a:latin typeface="Times New Roman" panose="02020603050405020304" pitchFamily="18" charset="0"/>
                <a:cs typeface="Times New Roman" panose="02020603050405020304" pitchFamily="18" charset="0"/>
                <a:sym typeface="+mn-ea"/>
              </a:rPr>
              <a:t> </a:t>
            </a:r>
            <a:r>
              <a:rPr lang="en-US" altLang="en-US" sz="2400" dirty="0">
                <a:latin typeface="Times New Roman" panose="02020603050405020304" pitchFamily="18" charset="0"/>
                <a:cs typeface="Times New Roman" panose="02020603050405020304" pitchFamily="18" charset="0"/>
                <a:sym typeface="+mn-ea"/>
              </a:rPr>
              <a:t>The second process is decryption, which converts this cipher text again into the original text. Cryptography algorithm is mainly divided into two forms; one is Symmetric cryptography and second is Asymmetric cryptography. </a:t>
            </a:r>
            <a:endParaRPr lang="en-US" alt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sym typeface="+mn-ea"/>
              </a:rPr>
              <a:t> In Symmetric key cryptography only one key is used for both process encryption and decryption which must be same so, it is also called secret key cryptography, but in case of Asymmetric cryptography two different keys are used for both the processes so that it is also called private key cryptography. </a:t>
            </a:r>
            <a:endParaRPr lang="en-US" alt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sym typeface="+mn-ea"/>
              </a:rPr>
              <a:t> Symmetric key algorithms are more preferable than asymmetric key algorithms because execution time of asymmetric algorithm is slower than  symmetric key algorithm.</a:t>
            </a:r>
            <a:endParaRPr lang="en-US" altLang="en-US" sz="2400" dirty="0">
              <a:latin typeface="Times New Roman" panose="02020603050405020304" pitchFamily="18" charset="0"/>
              <a:cs typeface="Times New Roman" panose="02020603050405020304" pitchFamily="18" charset="0"/>
            </a:endParaRPr>
          </a:p>
          <a:p>
            <a:pPr algn="just"/>
            <a:endParaRPr lang="en-US" altLang="en-US" sz="2400" dirty="0">
              <a:latin typeface="Arial" panose="020B0604020202020204" pitchFamily="34" charset="0"/>
              <a:cs typeface="Arial" panose="020B0604020202020204" pitchFamily="34" charset="0"/>
            </a:endParaRPr>
          </a:p>
          <a:p>
            <a:pPr marL="0" indent="0" algn="just">
              <a:buFont typeface="Arial" panose="020B0604020202020204" pitchFamily="34" charset="0"/>
              <a:buNone/>
            </a:pPr>
            <a:endParaRPr lang="en-US" altLang="en-US" sz="2400" dirty="0">
              <a:latin typeface="Arial" panose="020B0604020202020204" pitchFamily="34" charset="0"/>
              <a:cs typeface="Arial" panose="020B0604020202020204" pitchFamily="34" charset="0"/>
            </a:endParaRPr>
          </a:p>
          <a:p>
            <a:pPr marL="0" indent="0" algn="just">
              <a:buNone/>
            </a:pPr>
            <a:endParaRPr lang="en-IN" sz="2000" dirty="0">
              <a:latin typeface="Arial" panose="020B0604020202020204" pitchFamily="34" charset="0"/>
              <a:cs typeface="Arial" panose="020B0604020202020204" pitchFamily="34" charset="0"/>
            </a:endParaRPr>
          </a:p>
          <a:p>
            <a:pPr marL="0" indent="0" algn="just">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IN" altLang="en-US" sz="2400" b="1" dirty="0">
                <a:latin typeface="Times New Roman" panose="02020603050405020304" pitchFamily="18" charset="0"/>
                <a:cs typeface="Times New Roman" panose="02020603050405020304" pitchFamily="18" charset="0"/>
              </a:rPr>
              <a:t>Working of AES Algorithm:</a:t>
            </a:r>
          </a:p>
          <a:p>
            <a:pPr marL="342900" indent="-342900">
              <a:buFont typeface="Arial" panose="020B0604020202020204" pitchFamily="34" charset="0"/>
              <a:buChar char="•"/>
            </a:pPr>
            <a:endParaRPr lang="en-IN"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altLang="en-US" sz="2200" dirty="0">
                <a:latin typeface="Times New Roman" panose="02020603050405020304" pitchFamily="18" charset="0"/>
                <a:cs typeface="Times New Roman" panose="02020603050405020304" pitchFamily="18" charset="0"/>
              </a:rPr>
              <a:t>AES algorithm </a:t>
            </a:r>
            <a:r>
              <a:rPr lang="en-US" altLang="en-US" sz="2200" dirty="0">
                <a:latin typeface="Times New Roman" panose="02020603050405020304" pitchFamily="18" charset="0"/>
                <a:cs typeface="Times New Roman" panose="02020603050405020304" pitchFamily="18" charset="0"/>
              </a:rPr>
              <a:t>takes 128 bits as input and outputs 128 bits of encrypted cipher text. </a:t>
            </a:r>
          </a:p>
          <a:p>
            <a:pPr marL="342900" indent="-342900">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AES relies on the substitution-permutation network principle, which is performed using a series of linked operations that involve replacing and shuffling the input data.</a:t>
            </a:r>
          </a:p>
          <a:p>
            <a:pPr marL="342900" indent="-342900">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AES performs operations on bytes of data rather than in bits. Since the block size is 128 bits, the cipher processes 128 bits (or 16 bytes) of the input data at a time.</a:t>
            </a:r>
          </a:p>
          <a:p>
            <a:pPr marL="342900" indent="-342900">
              <a:buFont typeface="Arial" panose="020B0604020202020204" pitchFamily="34" charset="0"/>
              <a:buChar char="•"/>
            </a:pPr>
            <a:r>
              <a:rPr lang="en-US" altLang="en-US" sz="2200" dirty="0">
                <a:latin typeface="Times New Roman" panose="02020603050405020304" pitchFamily="18" charset="0"/>
                <a:cs typeface="Times New Roman" panose="02020603050405020304" pitchFamily="18" charset="0"/>
              </a:rPr>
              <a:t>The number of rounds depends on the key length </a:t>
            </a:r>
          </a:p>
          <a:p>
            <a:pPr indent="0">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graphicFrame>
        <p:nvGraphicFramePr>
          <p:cNvPr id="6" name="Content Placeholder 10"/>
          <p:cNvGraphicFramePr>
            <a:graphicFrameLocks noGrp="1"/>
          </p:cNvGraphicFramePr>
          <p:nvPr>
            <p:ph idx="1"/>
          </p:nvPr>
        </p:nvGraphicFramePr>
        <p:xfrm>
          <a:off x="530192" y="4280068"/>
          <a:ext cx="10515600" cy="1828800"/>
        </p:xfrm>
        <a:graphic>
          <a:graphicData uri="http://schemas.openxmlformats.org/drawingml/2006/table">
            <a:tbl>
              <a:tblPr firstRow="1" bandRow="1">
                <a:tableStyleId>{00A15C55-8517-42AA-B614-E9B94910E393}</a:tableStyleId>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370840">
                <a:tc>
                  <a:txBody>
                    <a:bodyPr/>
                    <a:lstStyle/>
                    <a:p>
                      <a:pPr algn="ctr"/>
                      <a:r>
                        <a:rPr lang="en-US" sz="2400" dirty="0">
                          <a:latin typeface="Times New Roman" panose="02020603050405020304" pitchFamily="18" charset="0"/>
                          <a:cs typeface="Times New Roman" panose="02020603050405020304" pitchFamily="18" charset="0"/>
                        </a:rPr>
                        <a:t>Number of Rounds</a:t>
                      </a:r>
                    </a:p>
                  </a:txBody>
                  <a:tcPr/>
                </a:tc>
                <a:tc>
                  <a:txBody>
                    <a:bodyPr/>
                    <a:lstStyle/>
                    <a:p>
                      <a:pPr algn="ctr"/>
                      <a:r>
                        <a:rPr lang="en-US" sz="2400" dirty="0">
                          <a:latin typeface="Times New Roman" panose="02020603050405020304" pitchFamily="18" charset="0"/>
                          <a:cs typeface="Times New Roman" panose="02020603050405020304" pitchFamily="18" charset="0"/>
                        </a:rPr>
                        <a:t>Key Size(in bits)</a:t>
                      </a:r>
                    </a:p>
                  </a:txBody>
                  <a:tcPr/>
                </a:tc>
                <a:extLst>
                  <a:ext uri="{0D108BD9-81ED-4DB2-BD59-A6C34878D82A}">
                    <a16:rowId xmlns:a16="http://schemas.microsoft.com/office/drawing/2014/main" val="10000"/>
                  </a:ext>
                </a:extLst>
              </a:tr>
              <a:tr h="370840">
                <a:tc>
                  <a:txBody>
                    <a:bodyPr/>
                    <a:lstStyle/>
                    <a:p>
                      <a:pPr algn="ctr"/>
                      <a:r>
                        <a:rPr lang="en-US" sz="2400" dirty="0">
                          <a:latin typeface="Times New Roman" panose="02020603050405020304" pitchFamily="18" charset="0"/>
                          <a:cs typeface="Times New Roman" panose="02020603050405020304" pitchFamily="18" charset="0"/>
                        </a:rPr>
                        <a:t>10</a:t>
                      </a:r>
                    </a:p>
                  </a:txBody>
                  <a:tcPr/>
                </a:tc>
                <a:tc>
                  <a:txBody>
                    <a:bodyPr/>
                    <a:lstStyle/>
                    <a:p>
                      <a:pPr algn="ctr"/>
                      <a:r>
                        <a:rPr lang="en-US" sz="2400" dirty="0">
                          <a:latin typeface="Times New Roman" panose="02020603050405020304" pitchFamily="18" charset="0"/>
                          <a:cs typeface="Times New Roman" panose="02020603050405020304" pitchFamily="18" charset="0"/>
                        </a:rPr>
                        <a:t>128</a:t>
                      </a:r>
                    </a:p>
                  </a:txBody>
                  <a:tcPr/>
                </a:tc>
                <a:extLst>
                  <a:ext uri="{0D108BD9-81ED-4DB2-BD59-A6C34878D82A}">
                    <a16:rowId xmlns:a16="http://schemas.microsoft.com/office/drawing/2014/main" val="10001"/>
                  </a:ext>
                </a:extLst>
              </a:tr>
              <a:tr h="370840">
                <a:tc>
                  <a:txBody>
                    <a:bodyPr/>
                    <a:lstStyle/>
                    <a:p>
                      <a:pPr algn="ctr"/>
                      <a:r>
                        <a:rPr lang="en-US" sz="2400" dirty="0">
                          <a:latin typeface="Times New Roman" panose="02020603050405020304" pitchFamily="18" charset="0"/>
                          <a:cs typeface="Times New Roman" panose="02020603050405020304" pitchFamily="18" charset="0"/>
                        </a:rPr>
                        <a:t>12</a:t>
                      </a:r>
                    </a:p>
                  </a:txBody>
                  <a:tcPr/>
                </a:tc>
                <a:tc>
                  <a:txBody>
                    <a:bodyPr/>
                    <a:lstStyle/>
                    <a:p>
                      <a:pPr algn="ctr"/>
                      <a:r>
                        <a:rPr lang="en-US" sz="2400" dirty="0">
                          <a:latin typeface="Times New Roman" panose="02020603050405020304" pitchFamily="18" charset="0"/>
                          <a:cs typeface="Times New Roman" panose="02020603050405020304" pitchFamily="18" charset="0"/>
                        </a:rPr>
                        <a:t>192</a:t>
                      </a:r>
                    </a:p>
                  </a:txBody>
                  <a:tcPr/>
                </a:tc>
                <a:extLst>
                  <a:ext uri="{0D108BD9-81ED-4DB2-BD59-A6C34878D82A}">
                    <a16:rowId xmlns:a16="http://schemas.microsoft.com/office/drawing/2014/main" val="10002"/>
                  </a:ext>
                </a:extLst>
              </a:tr>
              <a:tr h="370840">
                <a:tc>
                  <a:txBody>
                    <a:bodyPr/>
                    <a:lstStyle/>
                    <a:p>
                      <a:pPr algn="ctr"/>
                      <a:r>
                        <a:rPr lang="en-US" sz="2400" dirty="0">
                          <a:latin typeface="Times New Roman" panose="02020603050405020304" pitchFamily="18" charset="0"/>
                          <a:cs typeface="Times New Roman" panose="02020603050405020304" pitchFamily="18" charset="0"/>
                        </a:rPr>
                        <a:t>14</a:t>
                      </a:r>
                    </a:p>
                  </a:txBody>
                  <a:tcPr/>
                </a:tc>
                <a:tc>
                  <a:txBody>
                    <a:bodyPr/>
                    <a:lstStyle/>
                    <a:p>
                      <a:pPr algn="ctr"/>
                      <a:r>
                        <a:rPr lang="en-US" sz="2400" dirty="0">
                          <a:latin typeface="Times New Roman" panose="02020603050405020304" pitchFamily="18" charset="0"/>
                          <a:cs typeface="Times New Roman" panose="02020603050405020304" pitchFamily="18" charset="0"/>
                        </a:rPr>
                        <a:t>256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marL="342900" indent="-342900">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State Array :</a:t>
            </a:r>
            <a:r>
              <a:rPr lang="en-US" altLang="en-US" sz="2000" dirty="0">
                <a:latin typeface="Times New Roman" panose="02020603050405020304" pitchFamily="18" charset="0"/>
                <a:cs typeface="Times New Roman" panose="02020603050405020304" pitchFamily="18" charset="0"/>
              </a:rPr>
              <a:t> AES works on an array of bytes of a 4x4 matrix, which is known as state. </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Each byte consists of 8 bits, making a total of 16 bytes for 128 bits.</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The plaintext is stored in a 16-byte state array (128 bits).</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All transformations of encryption process are performed only on a state. After each</a:t>
            </a: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transformation values are stored in a state, this state is the input for the next</a:t>
            </a: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transformation.</a:t>
            </a:r>
          </a:p>
          <a:p>
            <a:pPr marL="342900" indent="-342900"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marL="342900" indent="-342900" algn="just"/>
            <a:r>
              <a:rPr lang="en-US" altLang="en-US" sz="2000" b="1" dirty="0">
                <a:latin typeface="Times New Roman" panose="02020603050405020304" pitchFamily="18" charset="0"/>
                <a:cs typeface="Times New Roman" panose="02020603050405020304" pitchFamily="18" charset="0"/>
              </a:rPr>
              <a:t>     Transformation Process </a:t>
            </a:r>
          </a:p>
          <a:p>
            <a:pPr marL="342900" indent="-342900" algn="jus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Initial Transformation : </a:t>
            </a:r>
            <a:r>
              <a:rPr lang="en-US" altLang="en-US" sz="2000" dirty="0">
                <a:latin typeface="Times New Roman" panose="02020603050405020304" pitchFamily="18" charset="0"/>
                <a:cs typeface="Times New Roman" panose="02020603050405020304" pitchFamily="18" charset="0"/>
              </a:rPr>
              <a:t>The input state undergoes an initial transformation.   </a:t>
            </a:r>
          </a:p>
          <a:p>
            <a:pPr marL="342900" indent="-342900" algn="jus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Rounds : </a:t>
            </a:r>
            <a:r>
              <a:rPr lang="en-US" altLang="en-US" sz="2000" dirty="0">
                <a:latin typeface="Times New Roman" panose="02020603050405020304" pitchFamily="18" charset="0"/>
                <a:cs typeface="Times New Roman" panose="02020603050405020304" pitchFamily="18" charset="0"/>
              </a:rPr>
              <a:t>The transformed state is processed through multiple rounds (n rounds).    </a:t>
            </a:r>
          </a:p>
          <a:p>
            <a:pPr marL="342900" indent="-342900"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 Each round consists of four transformations (except the last round, which has three).</a:t>
            </a:r>
          </a:p>
          <a:p>
            <a:pPr marL="342900" indent="-342900" algn="just"/>
            <a:endParaRPr lang="en-US" altLang="en-US" sz="2000" dirty="0">
              <a:latin typeface="Times New Roman" panose="02020603050405020304" pitchFamily="18" charset="0"/>
              <a:cs typeface="Times New Roman" panose="02020603050405020304" pitchFamily="18" charset="0"/>
            </a:endParaRPr>
          </a:p>
          <a:p>
            <a:pPr marL="342900" indent="-342900" algn="just"/>
            <a:r>
              <a:rPr lang="en-US" altLang="en-US" sz="2000" b="1" dirty="0">
                <a:latin typeface="Times New Roman" panose="02020603050405020304" pitchFamily="18" charset="0"/>
                <a:cs typeface="Times New Roman" panose="02020603050405020304" pitchFamily="18" charset="0"/>
              </a:rPr>
              <a:t>      Round Transformations</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Substitute Bytes : Substitutes bytes in the state array using a substitution box (S-box).</a:t>
            </a:r>
          </a:p>
          <a:p>
            <a:pPr marL="457200" indent="-457200" algn="just">
              <a:buAutoNum type="arabicPeriod"/>
            </a:pPr>
            <a:r>
              <a:rPr lang="en-US" altLang="en-US" sz="2000" dirty="0">
                <a:latin typeface="Times New Roman" panose="02020603050405020304" pitchFamily="18" charset="0"/>
                <a:cs typeface="Times New Roman" panose="02020603050405020304" pitchFamily="18" charset="0"/>
              </a:rPr>
              <a:t>Shift Rows : Shifts the rows of the state array.</a:t>
            </a:r>
          </a:p>
          <a:p>
            <a:pPr marL="457200" indent="-457200" algn="just">
              <a:buAutoNum type="arabicPeriod"/>
            </a:pPr>
            <a:r>
              <a:rPr lang="en-US" altLang="en-US" sz="2000" dirty="0">
                <a:latin typeface="Times New Roman" panose="02020603050405020304" pitchFamily="18" charset="0"/>
                <a:cs typeface="Times New Roman" panose="02020603050405020304" pitchFamily="18" charset="0"/>
              </a:rPr>
              <a:t> Mix Columns : Mixes the data within each column of the state array.</a:t>
            </a:r>
          </a:p>
          <a:p>
            <a:pPr marL="457200" indent="-457200" algn="just">
              <a:buAutoNum type="arabicPeriod"/>
            </a:pPr>
            <a:r>
              <a:rPr lang="en-US" altLang="en-US" sz="2000" dirty="0">
                <a:latin typeface="Times New Roman" panose="02020603050405020304" pitchFamily="18" charset="0"/>
                <a:cs typeface="Times New Roman" panose="02020603050405020304" pitchFamily="18" charset="0"/>
              </a:rPr>
              <a:t>Add Round Key : Combines the state with a round key derived from the original key.</a:t>
            </a:r>
          </a:p>
          <a:p>
            <a:pPr marL="342900" indent="-342900" algn="just"/>
            <a:r>
              <a:rPr lang="en-US" altLang="en-US" sz="2000"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marL="342900" indent="-342900">
              <a:buFont typeface="Wingdings" panose="05000000000000000000" charset="0"/>
              <a:buChar char="Ø"/>
            </a:pPr>
            <a:endParaRPr lang="en-US" altLang="en-US" sz="2000" b="1" dirty="0">
              <a:latin typeface="Times New Roman" panose="02020603050405020304" pitchFamily="18" charset="0"/>
              <a:cs typeface="Times New Roman" panose="02020603050405020304" pitchFamily="18" charset="0"/>
            </a:endParaRPr>
          </a:p>
        </p:txBody>
      </p:sp>
      <p:sp>
        <p:nvSpPr>
          <p:cNvPr id="7" name="Rectangle 6"/>
          <p:cNvSpPr/>
          <p:nvPr/>
        </p:nvSpPr>
        <p:spPr>
          <a:xfrm>
            <a:off x="644893" y="1347537"/>
            <a:ext cx="8499107" cy="1631216"/>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Rounds : </a:t>
            </a:r>
            <a:r>
              <a:rPr lang="en-US" sz="2000" dirty="0">
                <a:latin typeface="Times New Roman" panose="02020603050405020304" pitchFamily="18" charset="0"/>
                <a:cs typeface="Times New Roman" panose="02020603050405020304" pitchFamily="18" charset="0"/>
              </a:rPr>
              <a:t>The number of rounds (n) varies based on the key size: </a:t>
            </a:r>
          </a:p>
          <a:p>
            <a:r>
              <a:rPr lang="en-US" sz="2000" dirty="0">
                <a:latin typeface="Times New Roman" panose="02020603050405020304" pitchFamily="18" charset="0"/>
                <a:cs typeface="Times New Roman" panose="02020603050405020304" pitchFamily="18" charset="0"/>
              </a:rPr>
              <a:t>128 bits : 10 rounds    </a:t>
            </a:r>
          </a:p>
          <a:p>
            <a:r>
              <a:rPr lang="en-US" sz="2000" dirty="0">
                <a:latin typeface="Times New Roman" panose="02020603050405020304" pitchFamily="18" charset="0"/>
                <a:cs typeface="Times New Roman" panose="02020603050405020304" pitchFamily="18" charset="0"/>
              </a:rPr>
              <a:t>192 bits : 12 rounds    </a:t>
            </a:r>
          </a:p>
          <a:p>
            <a:r>
              <a:rPr lang="en-US" sz="2000" dirty="0">
                <a:latin typeface="Times New Roman" panose="02020603050405020304" pitchFamily="18" charset="0"/>
                <a:cs typeface="Times New Roman" panose="02020603050405020304" pitchFamily="18" charset="0"/>
              </a:rPr>
              <a:t>256 bits : 14 rounds</a:t>
            </a:r>
          </a:p>
          <a:p>
            <a:endParaRPr lang="en-US" sz="2000" dirty="0">
              <a:latin typeface="Times New Roman" panose="02020603050405020304" pitchFamily="18" charset="0"/>
              <a:cs typeface="Times New Roman" panose="02020603050405020304" pitchFamily="18" charset="0"/>
            </a:endParaRPr>
          </a:p>
        </p:txBody>
      </p:sp>
      <p:pic>
        <p:nvPicPr>
          <p:cNvPr id="1027" name="Picture 3"/>
          <p:cNvPicPr>
            <a:picLocks noChangeAspect="1" noChangeArrowheads="1"/>
          </p:cNvPicPr>
          <p:nvPr/>
        </p:nvPicPr>
        <p:blipFill>
          <a:blip r:embed="rId4"/>
          <a:srcRect/>
          <a:stretch>
            <a:fillRect/>
          </a:stretch>
        </p:blipFill>
        <p:spPr bwMode="auto">
          <a:xfrm>
            <a:off x="3290286" y="2242686"/>
            <a:ext cx="5495925" cy="4520063"/>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4"/>
          <a:srcRect/>
          <a:stretch>
            <a:fillRect/>
          </a:stretch>
        </p:blipFill>
        <p:spPr bwMode="auto">
          <a:xfrm>
            <a:off x="494648" y="1915427"/>
            <a:ext cx="10163175" cy="4562375"/>
          </a:xfrm>
          <a:prstGeom prst="rect">
            <a:avLst/>
          </a:prstGeom>
          <a:noFill/>
          <a:ln w="9525">
            <a:noFill/>
            <a:miter lim="800000"/>
            <a:headEnd/>
            <a:tailEnd/>
          </a:ln>
          <a:effectLst/>
        </p:spPr>
      </p:pic>
      <p:sp>
        <p:nvSpPr>
          <p:cNvPr id="8" name="TextBox 7"/>
          <p:cNvSpPr txBox="1"/>
          <p:nvPr/>
        </p:nvSpPr>
        <p:spPr>
          <a:xfrm>
            <a:off x="654518" y="1203158"/>
            <a:ext cx="2627697" cy="400110"/>
          </a:xfrm>
          <a:prstGeom prst="rect">
            <a:avLst/>
          </a:prstGeom>
          <a:noFill/>
        </p:spPr>
        <p:txBody>
          <a:bodyPr wrap="square" rtlCol="0">
            <a:spAutoFit/>
          </a:bodyPr>
          <a:lstStyle/>
          <a:p>
            <a:r>
              <a:rPr lang="en-US" sz="2000" b="1" dirty="0"/>
              <a:t>1.</a:t>
            </a:r>
            <a:r>
              <a:rPr lang="en-US" sz="2000" b="1" dirty="0">
                <a:latin typeface="Times New Roman" panose="02020603050405020304" pitchFamily="18" charset="0"/>
                <a:cs typeface="Times New Roman" panose="02020603050405020304" pitchFamily="18" charset="0"/>
              </a:rPr>
              <a:t>Substitute-bytes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731519" y="1357162"/>
            <a:ext cx="10934299" cy="4708981"/>
          </a:xfrm>
          <a:prstGeom prst="rect">
            <a:avLst/>
          </a:prstGeom>
        </p:spPr>
        <p:txBody>
          <a:bodyPr wrap="square">
            <a:spAutoFit/>
          </a:bodyPr>
          <a:lstStyle/>
          <a:p>
            <a:r>
              <a:rPr lang="en-US" sz="2000" b="1" dirty="0">
                <a:latin typeface="Times New Roman" panose="02020603050405020304" pitchFamily="18" charset="0"/>
                <a:cs typeface="Times New Roman" panose="02020603050405020304" pitchFamily="18" charset="0"/>
              </a:rPr>
              <a:t>Key Scheduling</a:t>
            </a:r>
            <a:r>
              <a:rPr lang="en-US" dirty="0"/>
              <a:t> </a:t>
            </a:r>
          </a:p>
          <a:p>
            <a:r>
              <a:rPr lang="en-US" sz="2000" b="1" dirty="0">
                <a:latin typeface="Times New Roman" panose="02020603050405020304" pitchFamily="18" charset="0"/>
                <a:cs typeface="Times New Roman" panose="02020603050405020304" pitchFamily="18" charset="0"/>
              </a:rPr>
              <a:t>Round Keys :</a:t>
            </a:r>
            <a:r>
              <a:rPr lang="en-US" sz="2000" dirty="0">
                <a:latin typeface="Times New Roman" panose="02020603050405020304" pitchFamily="18" charset="0"/>
                <a:cs typeface="Times New Roman" panose="02020603050405020304" pitchFamily="18" charset="0"/>
              </a:rPr>
              <a:t> Each round requires a specific round key, generated from the original key using a key scheduling algorithm.</a:t>
            </a:r>
          </a:p>
          <a:p>
            <a:r>
              <a:rPr lang="en-US" sz="2000" dirty="0">
                <a:latin typeface="Times New Roman" panose="02020603050405020304" pitchFamily="18" charset="0"/>
                <a:cs typeface="Times New Roman" panose="02020603050405020304" pitchFamily="18" charset="0"/>
              </a:rPr>
              <a:t>Key Sizes : Original key sizes can be 128, 192, or 256 bits.  </a:t>
            </a:r>
          </a:p>
          <a:p>
            <a:r>
              <a:rPr lang="en-US" sz="2000" dirty="0">
                <a:latin typeface="Times New Roman" panose="02020603050405020304" pitchFamily="18" charset="0"/>
                <a:cs typeface="Times New Roman" panose="02020603050405020304" pitchFamily="18" charset="0"/>
              </a:rPr>
              <a:t>All round keys are 128 bits in size.  </a:t>
            </a:r>
          </a:p>
          <a:p>
            <a:r>
              <a:rPr lang="en-US" sz="2000" b="1" dirty="0">
                <a:latin typeface="Times New Roman" panose="02020603050405020304" pitchFamily="18" charset="0"/>
                <a:cs typeface="Times New Roman" panose="02020603050405020304" pitchFamily="18" charset="0"/>
              </a:rPr>
              <a:t>AES Variants</a:t>
            </a:r>
          </a:p>
          <a:p>
            <a:r>
              <a:rPr lang="en-US" sz="2000" b="1" dirty="0">
                <a:latin typeface="Times New Roman" panose="02020603050405020304" pitchFamily="18" charset="0"/>
                <a:cs typeface="Times New Roman" panose="02020603050405020304" pitchFamily="18" charset="0"/>
              </a:rPr>
              <a:t>AES-128 :</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Key Size: 128 bits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Rounds: 10 (9 rounds with 4 transformations, 1 round with 3 transformations)</a:t>
            </a:r>
          </a:p>
          <a:p>
            <a:r>
              <a:rPr lang="en-US" sz="2000" b="1" dirty="0">
                <a:latin typeface="Times New Roman" panose="02020603050405020304" pitchFamily="18" charset="0"/>
                <a:cs typeface="Times New Roman" panose="02020603050405020304" pitchFamily="18" charset="0"/>
              </a:rPr>
              <a:t>AES-192 :</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Key Size: 192 bits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Rounds: 12 (11 rounds with 4 transformations, 1 round with 3 transformations)</a:t>
            </a:r>
          </a:p>
          <a:p>
            <a:r>
              <a:rPr lang="en-US" sz="2000" b="1" dirty="0">
                <a:latin typeface="Times New Roman" panose="02020603050405020304" pitchFamily="18" charset="0"/>
                <a:cs typeface="Times New Roman" panose="02020603050405020304" pitchFamily="18" charset="0"/>
              </a:rPr>
              <a:t>AES-256 :</a:t>
            </a:r>
            <a:r>
              <a:rPr lang="en-US"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Key Size: 256 bits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Rounds: 14 (13 rounds with 4 transformations, 1 round with 3 transformations)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670559" y="1317670"/>
            <a:ext cx="10658375" cy="1938992"/>
          </a:xfrm>
          <a:prstGeom prst="rect">
            <a:avLst/>
          </a:prstGeom>
        </p:spPr>
        <p:txBody>
          <a:bodyPr wrap="square">
            <a:sp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 lookup table (S-Box) is used.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Each byte in the state array is replaced by a corresponding value from the S-Box.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Example: If the   input is s00, it is replaced by S[0][0].</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2.Shift rows</a:t>
            </a:r>
          </a:p>
          <a:p>
            <a:endParaRPr lang="en-US" sz="2000" b="1"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4"/>
          <a:srcRect/>
          <a:stretch>
            <a:fillRect/>
          </a:stretch>
        </p:blipFill>
        <p:spPr bwMode="auto">
          <a:xfrm>
            <a:off x="560872" y="2959568"/>
            <a:ext cx="9622656" cy="356636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458804" y="1371675"/>
            <a:ext cx="11197390" cy="2862322"/>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Rows of the state array are shifted:      </a:t>
            </a:r>
          </a:p>
          <a:p>
            <a:r>
              <a:rPr lang="en-US" sz="2000" dirty="0">
                <a:latin typeface="Times New Roman" panose="02020603050405020304" pitchFamily="18" charset="0"/>
                <a:cs typeface="Times New Roman" panose="02020603050405020304" pitchFamily="18" charset="0"/>
              </a:rPr>
              <a:t>First Row: No shift.     </a:t>
            </a:r>
          </a:p>
          <a:p>
            <a:r>
              <a:rPr lang="en-US" sz="2000" dirty="0">
                <a:latin typeface="Times New Roman" panose="02020603050405020304" pitchFamily="18" charset="0"/>
                <a:cs typeface="Times New Roman" panose="02020603050405020304" pitchFamily="18" charset="0"/>
              </a:rPr>
              <a:t>Second Row: Shifted left by 1 byte.     </a:t>
            </a:r>
          </a:p>
          <a:p>
            <a:r>
              <a:rPr lang="en-US" sz="2000" dirty="0">
                <a:latin typeface="Times New Roman" panose="02020603050405020304" pitchFamily="18" charset="0"/>
                <a:cs typeface="Times New Roman" panose="02020603050405020304" pitchFamily="18" charset="0"/>
              </a:rPr>
              <a:t>Third Row: Shifted left by 2 bytes.     </a:t>
            </a:r>
          </a:p>
          <a:p>
            <a:r>
              <a:rPr lang="en-US" sz="2000" dirty="0">
                <a:latin typeface="Times New Roman" panose="02020603050405020304" pitchFamily="18" charset="0"/>
                <a:cs typeface="Times New Roman" panose="02020603050405020304" pitchFamily="18" charset="0"/>
              </a:rPr>
              <a:t>Fourth Row: Shifted left by 3 bytes.   </a:t>
            </a:r>
          </a:p>
          <a:p>
            <a:r>
              <a:rPr lang="en-US" sz="2000" dirty="0">
                <a:latin typeface="Times New Roman" panose="02020603050405020304" pitchFamily="18" charset="0"/>
                <a:cs typeface="Times New Roman" panose="02020603050405020304" pitchFamily="18" charset="0"/>
              </a:rPr>
              <a:t>This operation alters the order of bytes in the rows.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3.Mix-columns</a:t>
            </a:r>
          </a:p>
          <a:p>
            <a:r>
              <a:rPr lang="en-US" sz="2000" dirty="0">
                <a:latin typeface="Times New Roman" panose="02020603050405020304" pitchFamily="18" charset="0"/>
                <a:cs typeface="Times New Roman" panose="02020603050405020304" pitchFamily="18" charset="0"/>
              </a:rPr>
              <a:t>   </a:t>
            </a:r>
          </a:p>
        </p:txBody>
      </p:sp>
      <p:pic>
        <p:nvPicPr>
          <p:cNvPr id="4098" name="Picture 2"/>
          <p:cNvPicPr>
            <a:picLocks noChangeAspect="1" noChangeArrowheads="1"/>
          </p:cNvPicPr>
          <p:nvPr/>
        </p:nvPicPr>
        <p:blipFill>
          <a:blip r:embed="rId4"/>
          <a:srcRect/>
          <a:stretch>
            <a:fillRect/>
          </a:stretch>
        </p:blipFill>
        <p:spPr bwMode="auto">
          <a:xfrm>
            <a:off x="1009400" y="3936731"/>
            <a:ext cx="9828646" cy="279614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Arial" panose="020B0604020202020204" pitchFamily="34" charset="0"/>
              <a:buNone/>
            </a:pPr>
            <a:endParaRPr lang="en-US" altLang="en-US" sz="2000" b="1" dirty="0">
              <a:latin typeface="Times New Roman" panose="02020603050405020304" pitchFamily="18" charset="0"/>
              <a:cs typeface="Times New Roman" panose="02020603050405020304" pitchFamily="18" charset="0"/>
            </a:endParaRPr>
          </a:p>
        </p:txBody>
      </p:sp>
      <p:sp>
        <p:nvSpPr>
          <p:cNvPr id="6" name="Rectangle 5"/>
          <p:cNvSpPr/>
          <p:nvPr/>
        </p:nvSpPr>
        <p:spPr>
          <a:xfrm>
            <a:off x="266298" y="1346546"/>
            <a:ext cx="11925702" cy="2831544"/>
          </a:xfrm>
          <a:prstGeom prst="rect">
            <a:avLst/>
          </a:prstGeom>
        </p:spPr>
        <p:txBody>
          <a:bodyPr wrap="square">
            <a:spAutoFit/>
          </a:bodyPr>
          <a:lstStyle/>
          <a:p>
            <a:pPr>
              <a:buFont typeface="Arial" panose="020B0604020202020204" pitchFamily="34" charset="0"/>
              <a:buChar char="•"/>
            </a:pPr>
            <a:r>
              <a:rPr lang="en-US" dirty="0"/>
              <a:t> </a:t>
            </a:r>
            <a:r>
              <a:rPr lang="en-US" sz="2000" dirty="0">
                <a:latin typeface="Times New Roman" panose="02020603050405020304" pitchFamily="18" charset="0"/>
                <a:cs typeface="Times New Roman" panose="02020603050405020304" pitchFamily="18" charset="0"/>
              </a:rPr>
              <a:t>A matrix multiplication is performed using a predefined 4x4 matrix.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Each column of the state array is mixed to produce new values.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The output remains a 4x4 matrix</a:t>
            </a:r>
            <a:r>
              <a:rPr lang="en-US" dirty="0"/>
              <a:t>.</a:t>
            </a:r>
          </a:p>
          <a:p>
            <a:pPr>
              <a:buFont typeface="Arial" panose="020B0604020202020204" pitchFamily="34" charset="0"/>
              <a:buChar char="•"/>
            </a:pPr>
            <a:endParaRPr lang="en-US" dirty="0"/>
          </a:p>
          <a:p>
            <a:r>
              <a:rPr lang="en-US" sz="2000" b="1" dirty="0">
                <a:latin typeface="Times New Roman" panose="02020603050405020304" pitchFamily="18" charset="0"/>
                <a:cs typeface="Times New Roman" panose="02020603050405020304" pitchFamily="18" charset="0"/>
              </a:rPr>
              <a:t>4.Add Round Key</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simple XOR operation is performed between the state array and the round key.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round key is derived from the key scheduling algorithm.   </a:t>
            </a: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Each column of the state matrix is </a:t>
            </a:r>
            <a:r>
              <a:rPr lang="en-US" sz="2000" dirty="0" err="1">
                <a:latin typeface="Times New Roman" panose="02020603050405020304" pitchFamily="18" charset="0"/>
                <a:cs typeface="Times New Roman" panose="02020603050405020304" pitchFamily="18" charset="0"/>
              </a:rPr>
              <a:t>XORed</a:t>
            </a:r>
            <a:r>
              <a:rPr lang="en-US" sz="2000" dirty="0">
                <a:latin typeface="Times New Roman" panose="02020603050405020304" pitchFamily="18" charset="0"/>
                <a:cs typeface="Times New Roman" panose="02020603050405020304" pitchFamily="18" charset="0"/>
              </a:rPr>
              <a:t> with the corresponding column of the round key.</a:t>
            </a:r>
          </a:p>
          <a:p>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charset="0"/>
              <a:buNone/>
            </a:pPr>
            <a:endParaRPr lang="en-US" altLang="en-US" sz="2000" dirty="0">
              <a:latin typeface="Times New Roman" panose="02020603050405020304" pitchFamily="18" charset="0"/>
              <a:cs typeface="Times New Roman" panose="02020603050405020304" pitchFamily="18" charset="0"/>
            </a:endParaRPr>
          </a:p>
        </p:txBody>
      </p:sp>
      <p:pic>
        <p:nvPicPr>
          <p:cNvPr id="8" name="Picture 3"/>
          <p:cNvPicPr>
            <a:picLocks noChangeAspect="1" noChangeArrowheads="1"/>
          </p:cNvPicPr>
          <p:nvPr/>
        </p:nvPicPr>
        <p:blipFill>
          <a:blip r:embed="rId4"/>
          <a:srcRect/>
          <a:stretch>
            <a:fillRect/>
          </a:stretch>
        </p:blipFill>
        <p:spPr bwMode="auto">
          <a:xfrm>
            <a:off x="329095" y="1068404"/>
            <a:ext cx="11567729" cy="5558589"/>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charset="0"/>
              <a:buNone/>
            </a:pPr>
            <a:endParaRPr lang="en-US" altLang="en-US" sz="2000"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a:blip r:embed="rId4"/>
          <a:srcRect/>
          <a:stretch>
            <a:fillRect/>
          </a:stretch>
        </p:blipFill>
        <p:spPr bwMode="auto">
          <a:xfrm>
            <a:off x="542792" y="1304222"/>
            <a:ext cx="11238529" cy="5553778"/>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marL="457200" indent="-457200">
              <a:buFont typeface="Wingdings" panose="05000000000000000000" pitchFamily="2" charset="2"/>
              <a:buChar char="Ø"/>
            </a:pPr>
            <a:r>
              <a:rPr lang="en-IN" sz="2800" b="1" dirty="0">
                <a:latin typeface="Times New Roman" panose="02020603050405020304" pitchFamily="18" charset="0"/>
                <a:cs typeface="Times New Roman" panose="02020603050405020304" pitchFamily="18" charset="0"/>
              </a:rPr>
              <a:t>LITERARUTRE SURVEY</a:t>
            </a:r>
          </a:p>
          <a:p>
            <a:pPr indent="0">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rPr>
              <a:t>Implementation of AES Algorithm on FPGA and on software-2020,2020 IEEE International Conference for Innovation in Technology (INOCON) Bengaluru, India</a:t>
            </a:r>
          </a:p>
          <a:p>
            <a:pPr indent="0">
              <a:buFont typeface="Wingdings" panose="05000000000000000000" pitchFamily="2" charset="2"/>
              <a:buNone/>
            </a:pPr>
            <a:r>
              <a:rPr lang="en-IN" altLang="en-US" sz="2000" b="1" dirty="0">
                <a:latin typeface="Times New Roman" panose="02020603050405020304" pitchFamily="18" charset="0"/>
                <a:cs typeface="Times New Roman" panose="02020603050405020304" pitchFamily="18" charset="0"/>
              </a:rPr>
              <a:t>Aim: </a:t>
            </a:r>
            <a:r>
              <a:rPr lang="en-US" altLang="en-US" sz="2000" dirty="0">
                <a:latin typeface="Times New Roman" panose="02020603050405020304" pitchFamily="18" charset="0"/>
                <a:cs typeface="Times New Roman" panose="02020603050405020304" pitchFamily="18" charset="0"/>
              </a:rPr>
              <a:t>In </a:t>
            </a:r>
            <a:r>
              <a:rPr lang="en-IN" altLang="en-US" sz="2000" dirty="0">
                <a:latin typeface="Times New Roman" panose="02020603050405020304" pitchFamily="18" charset="0"/>
                <a:cs typeface="Times New Roman" panose="02020603050405020304" pitchFamily="18" charset="0"/>
              </a:rPr>
              <a:t>this they</a:t>
            </a:r>
            <a:r>
              <a:rPr lang="en-US" altLang="en-US" sz="2000" dirty="0">
                <a:latin typeface="Times New Roman" panose="02020603050405020304" pitchFamily="18" charset="0"/>
                <a:cs typeface="Times New Roman" panose="02020603050405020304" pitchFamily="18" charset="0"/>
              </a:rPr>
              <a:t> have done a comparison between software implementation of AES algorithm and FPGA implementation of AES Algorithm.</a:t>
            </a:r>
          </a:p>
          <a:p>
            <a:pPr indent="0">
              <a:buFont typeface="Wingdings" panose="05000000000000000000" pitchFamily="2" charset="2"/>
              <a:buNone/>
            </a:pPr>
            <a:r>
              <a:rPr lang="en-IN" altLang="en-US" sz="2000" b="1" dirty="0">
                <a:latin typeface="Times New Roman" panose="02020603050405020304" pitchFamily="18" charset="0"/>
                <a:cs typeface="Times New Roman" panose="02020603050405020304" pitchFamily="18" charset="0"/>
              </a:rPr>
              <a:t>Implementation:</a:t>
            </a:r>
            <a:r>
              <a:rPr lang="en-IN" altLang="en-US" sz="2000" dirty="0">
                <a:latin typeface="Times New Roman" panose="02020603050405020304" pitchFamily="18" charset="0"/>
                <a:cs typeface="Times New Roman" panose="02020603050405020304" pitchFamily="18" charset="0"/>
              </a:rPr>
              <a:t>O</a:t>
            </a:r>
            <a:r>
              <a:rPr lang="en-US" altLang="en-US" sz="2000" dirty="0">
                <a:latin typeface="Times New Roman" panose="02020603050405020304" pitchFamily="18" charset="0"/>
                <a:cs typeface="Times New Roman" panose="02020603050405020304" pitchFamily="18" charset="0"/>
              </a:rPr>
              <a:t>n ARTIX-7 FPGA.</a:t>
            </a:r>
          </a:p>
          <a:p>
            <a:pPr indent="0">
              <a:buFont typeface="Wingdings" panose="05000000000000000000" pitchFamily="2" charset="2"/>
              <a:buNone/>
            </a:pPr>
            <a:r>
              <a:rPr lang="en-IN" altLang="en-US" sz="2000" b="1" dirty="0">
                <a:latin typeface="Times New Roman" panose="02020603050405020304" pitchFamily="18" charset="0"/>
                <a:cs typeface="Times New Roman" panose="02020603050405020304" pitchFamily="18" charset="0"/>
              </a:rPr>
              <a:t>Why hardware implemntation:</a:t>
            </a:r>
            <a:endParaRPr lang="en-US" altLang="en-US" sz="20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altLang="en-US" sz="2000" dirty="0">
                <a:latin typeface="Times New Roman" panose="02020603050405020304" pitchFamily="18" charset="0"/>
                <a:cs typeface="Times New Roman" panose="02020603050405020304" pitchFamily="18" charset="0"/>
              </a:rPr>
              <a:t>S</a:t>
            </a:r>
            <a:r>
              <a:rPr lang="en-US" altLang="en-US" sz="2000" dirty="0">
                <a:latin typeface="Times New Roman" panose="02020603050405020304" pitchFamily="18" charset="0"/>
                <a:cs typeface="Times New Roman" panose="02020603050405020304" pitchFamily="18" charset="0"/>
              </a:rPr>
              <a:t>oftware encryption is quite cheap and easy to implement it is not as fast as implemented on hardware as many factors influence the speed (speed of compiler, operating system, firmware, processor speed etc.) </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Since in FPGA a separate dedicated processor can be configured, it is much faster than software encryption. </a:t>
            </a:r>
          </a:p>
          <a:p>
            <a:pPr marL="342900" indent="-342900">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In hardware encryption on the other hand, the above factors won’t come into picture and the speed purely depends on hardware components which is generally fast. This makes hardware encryption faster.</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FPGA Implementation of AES Algorithm - 2017 IEEE Conference </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Aim:</a:t>
            </a:r>
            <a:r>
              <a:rPr lang="en-US" altLang="en-US" sz="2000" dirty="0">
                <a:latin typeface="Times New Roman" panose="02020603050405020304" pitchFamily="18" charset="0"/>
                <a:cs typeface="Times New Roman" panose="02020603050405020304" pitchFamily="18" charset="0"/>
                <a:sym typeface="+mn-ea"/>
              </a:rPr>
              <a:t>developing a synthesizable VHDL code for AES while ensuring optimized hardware resource utilization</a:t>
            </a:r>
            <a:r>
              <a:rPr lang="en-US" altLang="en-US" sz="2000" b="1" dirty="0">
                <a:latin typeface="Times New Roman" panose="02020603050405020304" pitchFamily="18" charset="0"/>
                <a:cs typeface="Times New Roman" panose="02020603050405020304" pitchFamily="18" charset="0"/>
                <a:sym typeface="+mn-ea"/>
              </a:rPr>
              <a:t>.</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This paper discusses the implementation of the Advanced Encryption Standard (AES) algorithm on Field Programmable Gate Arrays (FPGA) using VHDL (Very High-Speed Integrated Circuit Hardware Description Language). The study focuses on:</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 Efficient FPGA implementation of AES encryption and decryption.</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 Minimizing hardware consumption using an iterative design approach.</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 Simulation and optimization of AES using Xilinx ISE tools.</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 Performance analysis of FPGA-based AES encryption and decryption.</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sym typeface="+mn-ea"/>
              </a:rPr>
              <a:t>Work:</a:t>
            </a:r>
            <a:endParaRPr lang="en-US" altLang="en-US"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 AES Algorithm and Its Importance</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*AES Implementation on FPGA</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dirty="0">
                <a:latin typeface="Times New Roman" panose="02020603050405020304" pitchFamily="18" charset="0"/>
                <a:cs typeface="Times New Roman" panose="02020603050405020304" pitchFamily="18" charset="0"/>
                <a:sym typeface="+mn-ea"/>
              </a:rPr>
              <a:t>*Hardware Performance Metrics</a:t>
            </a: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sym typeface="+mn-ea"/>
              </a:rPr>
              <a:t>Implementation:</a:t>
            </a:r>
            <a:endParaRPr lang="en-US" altLang="en-US"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Xilinx ISE 9.2 Software</a:t>
            </a:r>
            <a:r>
              <a:rPr lang="en-US" altLang="en-US" b="1" dirty="0">
                <a:latin typeface="Times New Roman" panose="02020603050405020304" pitchFamily="18" charset="0"/>
                <a:cs typeface="Times New Roman" panose="02020603050405020304" pitchFamily="18" charset="0"/>
                <a:sym typeface="+mn-ea"/>
              </a:rPr>
              <a:t>.</a:t>
            </a:r>
            <a:endParaRPr lang="en-US" altLang="en-US"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b="1" dirty="0">
                <a:latin typeface="Times New Roman" panose="02020603050405020304" pitchFamily="18" charset="0"/>
                <a:cs typeface="Times New Roman" panose="02020603050405020304" pitchFamily="18" charset="0"/>
                <a:sym typeface="+mn-ea"/>
              </a:rPr>
              <a:t>*</a:t>
            </a:r>
            <a:r>
              <a:rPr lang="en-US" altLang="en-US" dirty="0">
                <a:latin typeface="Times New Roman" panose="02020603050405020304" pitchFamily="18" charset="0"/>
                <a:cs typeface="Times New Roman" panose="02020603050405020304" pitchFamily="18" charset="0"/>
                <a:sym typeface="+mn-ea"/>
              </a:rPr>
              <a:t>The FPGA used is Xilinx Virtex Family (XCV600)</a:t>
            </a:r>
            <a:r>
              <a:rPr lang="en-US" altLang="en-US" sz="2000" dirty="0">
                <a:latin typeface="Times New Roman" panose="02020603050405020304" pitchFamily="18" charset="0"/>
                <a:cs typeface="Times New Roman" panose="02020603050405020304" pitchFamily="18" charset="0"/>
                <a:sym typeface="+mn-ea"/>
              </a:rPr>
              <a:t>.</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 </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Implementation &amp; Results</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The proposed AES design was implemented in Xilinx ISE 9.2and tested on a Xilinx Virtex Family (XCV600) FPGA.</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Key Performance Metrics:</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Parameter | Value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AES Block Size | 128-bit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Key Length| 128-bit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Number of Rounds | 10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Throughput| 352 Mbps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Clock Frequency | 140.39 MHz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Total Clock Cycles per Encryption | 51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*Minimal Hardware Usage: Due to the iterative approach.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*Efficient Memory Utilization:Dynamic key expansion reduces memory footprint.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*High Throughput:352 Mbps, suitable for real-time encryption applications.</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 </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Conclusion:</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This paper successfully implements AES on FPGA using an optimized iterative approach.</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The proposed method minimizes hardware consumption while maintaining high encryption speed.</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The use of dynamic key expansion further reduces memory usage.</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Performance analysis shows that the proposed design achieves 352 Mbps throughput while keeping FPGA resource utilization low.</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The design is scalable, allowing easy adaptation to AES-192 and AES-256.</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Gaps:</a:t>
            </a: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-Limited FPGA operartion-Many AES FPGA designs do not optimize speed and power efficiency which will lead to trade-off.</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 Proposed solutions:</a:t>
            </a: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a:t>
            </a:r>
            <a:r>
              <a:rPr lang="en-US" altLang="en-US" sz="2000" dirty="0">
                <a:latin typeface="Times New Roman" panose="02020603050405020304" pitchFamily="18" charset="0"/>
                <a:cs typeface="Times New Roman" panose="02020603050405020304" pitchFamily="18" charset="0"/>
                <a:sym typeface="+mn-ea"/>
              </a:rPr>
              <a:t>Balanced Performance Optimization-Avoiding unnecessary duplication of logic circuits.</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 Optimizing clock cycle usage to achieve high-speed encryption.</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*Works efficiently on resource-limited FPGA devices.</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sym typeface="+mn-ea"/>
              </a:rPr>
              <a:t>Future Improvements</a:t>
            </a:r>
            <a:r>
              <a:rPr lang="en-US" altLang="en-US" sz="2000" dirty="0">
                <a:latin typeface="Times New Roman" panose="02020603050405020304" pitchFamily="18" charset="0"/>
                <a:cs typeface="Times New Roman" panose="02020603050405020304" pitchFamily="18" charset="0"/>
                <a:sym typeface="+mn-ea"/>
              </a:rPr>
              <a:t>: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Implement pipeline architecture to further increase throughput.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Extend the design for AES-192 and AES-256 for enhanced security.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sym typeface="+mn-ea"/>
              </a:rPr>
              <a:t>➡ Optimize power consumption for battery-powered FPGA devices.  </a:t>
            </a: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FPGA Implementation of Dual Key Based AES  Encryption with Key Based S-Box Generation-</a:t>
            </a: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IEEE-2015 2nd International Conference on Computing for Sustainable Global Development (INDIACom).</a:t>
            </a: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1.Aim:</a:t>
            </a:r>
            <a:r>
              <a:rPr lang="en-US" altLang="en-US" sz="2000" dirty="0">
                <a:latin typeface="Times New Roman" panose="02020603050405020304" pitchFamily="18" charset="0"/>
                <a:cs typeface="Times New Roman" panose="02020603050405020304" pitchFamily="18" charset="0"/>
              </a:rPr>
              <a:t>The primary goal is to increase security without significantly compromising performance by reducing vulnerability to cryptanalysis and optimizing FPGA resource usage.</a:t>
            </a: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2.Research:</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A. Vulnerabilities in Conventional AES</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Static S-Box Issues: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Traditional AES uses a predefined S-Box(stored as a look-up table).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This consumes excessive memory and is vulnerable to cryptanalysis (e.g., differential attacks, algebraic attacks, reverse engineering).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Single Key Encryption Weakness: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The security of AES depends entirely on a single key.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If the key is compromised, the entire encryption is broken.</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B. Prior Research and Its Shortcomings</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1. Dynamic S-Box Approaches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Some prior works proposed dynamic S-Box generation to avoid the weaknesses of look-up tables.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However, many of these introduce high computational complexity, making FPGA implementation difficult.  </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2.Dual-Key AES Proposals</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Some researchers suggested modifying AES to use two keys, but their approaches included unnecessary transformations(e.g., key-based shift rows and columns) that did not significantly enhance security.  </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C. Proposed Enhancements in This Paper</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The authors remove unnecessary transformations and instead introduce: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Key-Based S-Box Generation (reducing predictability).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Dual-Key Encryption Scheme (increasing resistance to cryptanalysis).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Optimized FPGA Implementation for better performance vs. security trade-off.</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3. Implementation &amp; Results:</a:t>
            </a:r>
            <a:r>
              <a:rPr lang="en-US" altLang="en-US" sz="2000" dirty="0">
                <a:latin typeface="Times New Roman" panose="02020603050405020304" pitchFamily="18" charset="0"/>
                <a:cs typeface="Times New Roman" panose="02020603050405020304" pitchFamily="18" charset="0"/>
              </a:rPr>
              <a:t>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The proposed Dual-Key AES was implemented on an Actel SmartFusion FPGA and compared to traditional AES.</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Performance Metrics</a:t>
            </a:r>
            <a:r>
              <a:rPr lang="en-US" altLang="en-US" sz="2000" dirty="0">
                <a:latin typeface="Times New Roman" panose="02020603050405020304" pitchFamily="18" charset="0"/>
                <a:cs typeface="Times New Roman" panose="02020603050405020304" pitchFamily="18" charset="0"/>
              </a:rPr>
              <a:t>:</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Parameter                               |Traditional AES | Dual-Key AES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Combinational Delay (ns)      | 15.37 ns            |         23.65 ns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Logic Slices Used                   | 5%                    | 6%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Clock Cycles per Encryption | 10                      | 10                     |</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*Security Improvement:Brute force time increased by a factor of 38.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*Marginal Resource Increase:1.2x more logic slices used, but significantly higher security.  </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4.Gaps</a:t>
            </a:r>
            <a:r>
              <a:rPr lang="en-US" altLang="en-US" sz="2000" dirty="0">
                <a:latin typeface="Times New Roman" panose="02020603050405020304" pitchFamily="18" charset="0"/>
                <a:cs typeface="Times New Roman" panose="02020603050405020304" pitchFamily="18" charset="0"/>
              </a:rPr>
              <a:t>:</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*Single Key Encryption is a Weakness.</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Static S-Box Makes AES Vulnerable to Attacks.</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Previous AES Modifications Were Inefficient.</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US" altLang="en-US" sz="2000" b="1" dirty="0">
                <a:latin typeface="Times New Roman" panose="02020603050405020304" pitchFamily="18" charset="0"/>
                <a:cs typeface="Times New Roman" panose="02020603050405020304" pitchFamily="18" charset="0"/>
              </a:rPr>
              <a:t> Proposed solution for the gaps</a:t>
            </a:r>
            <a:r>
              <a:rPr lang="en-US" altLang="en-US" sz="2000" dirty="0">
                <a:latin typeface="Times New Roman" panose="02020603050405020304" pitchFamily="18" charset="0"/>
                <a:cs typeface="Times New Roman" panose="02020603050405020304" pitchFamily="18" charset="0"/>
              </a:rPr>
              <a:t>:</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*Dual-Key Encryption Scheme.</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*Key-Based S-Box Generation.</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*Optimized FPGA Implementation.</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3" name="TextBox 1"/>
          <p:cNvSpPr txBox="1"/>
          <p:nvPr/>
        </p:nvSpPr>
        <p:spPr>
          <a:xfrm>
            <a:off x="297180" y="1080770"/>
            <a:ext cx="10826750" cy="5702300"/>
          </a:xfrm>
          <a:prstGeom prst="rect">
            <a:avLst/>
          </a:prstGeom>
          <a:noFill/>
        </p:spPr>
        <p:txBody>
          <a:bodyPr wrap="square" rtlCol="0">
            <a:noAutofit/>
          </a:bodyPr>
          <a:lstStyle/>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5.</a:t>
            </a:r>
            <a:r>
              <a:rPr lang="en-US" altLang="en-US" sz="2000" b="1" dirty="0">
                <a:latin typeface="Times New Roman" panose="02020603050405020304" pitchFamily="18" charset="0"/>
                <a:cs typeface="Times New Roman" panose="02020603050405020304" pitchFamily="18" charset="0"/>
              </a:rPr>
              <a:t>Conclusion</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The paper successfully enhances AES security while keeping FPGA resource utilization low.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The key-based S-Box removes static vulnerabilities without excessive computational overhead.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Dual-Key Mechanism makes cryptanalysis significantly harder without drastic performance reduction.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FPGA Implementation Results:</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Marginally increased delay (23.65 ns vs. 15.37 ns).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Only 1% increase in logic slices.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 Major security improvement (brute force complexity ×38).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  </a:t>
            </a:r>
          </a:p>
          <a:p>
            <a:pPr indent="0">
              <a:buFont typeface="Wingdings" panose="05000000000000000000" pitchFamily="2" charset="2"/>
              <a:buNone/>
            </a:pPr>
            <a:r>
              <a:rPr lang="en-US" altLang="zh-CN"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The proposed approach balances security and efficiency well.  </a:t>
            </a:r>
          </a:p>
          <a:p>
            <a:pPr indent="0">
              <a:buFont typeface="Wingdings" panose="05000000000000000000" pitchFamily="2" charset="2"/>
              <a:buNone/>
            </a:pPr>
            <a:r>
              <a:rPr lang="en-US" altLang="en-US" sz="2000" dirty="0">
                <a:latin typeface="Times New Roman" panose="02020603050405020304" pitchFamily="18" charset="0"/>
                <a:cs typeface="Times New Roman" panose="02020603050405020304" pitchFamily="18" charset="0"/>
              </a:rPr>
              <a:t>*Highly recommended for FPGA-based security applications where *enhanced AES encryption is needed.</a:t>
            </a:r>
          </a:p>
          <a:p>
            <a:pPr indent="0">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p:cNvSpPr>
            <a:spLocks noGrp="1"/>
          </p:cNvSpPr>
          <p:nvPr>
            <p:ph idx="1"/>
          </p:nvPr>
        </p:nvSpPr>
        <p:spPr>
          <a:xfrm>
            <a:off x="302591" y="1319134"/>
            <a:ext cx="11056375" cy="4857829"/>
          </a:xfrm>
        </p:spPr>
        <p:txBody>
          <a:bodyPr>
            <a:normAutofit/>
          </a:bodyPr>
          <a:lstStyle/>
          <a:p>
            <a:pPr marL="0" indent="0">
              <a:buNone/>
            </a:pPr>
            <a:r>
              <a:rPr lang="en-IN" sz="3200" b="1" dirty="0"/>
              <a:t> </a:t>
            </a:r>
            <a:r>
              <a:rPr lang="en-US" altLang="en-IN" sz="3200" dirty="0"/>
              <a:t>Title:FPGA implementation of AES</a:t>
            </a:r>
            <a:endParaRPr lang="en-IN" sz="3200" dirty="0"/>
          </a:p>
          <a:p>
            <a:pPr marL="0" indent="0">
              <a:buNone/>
            </a:pPr>
            <a:endParaRPr lang="en-IN" sz="3200" b="1" dirty="0"/>
          </a:p>
          <a:p>
            <a:pPr marL="0" indent="0">
              <a:buNone/>
            </a:pPr>
            <a:endParaRPr lang="en-IN" sz="3200" b="1" dirty="0"/>
          </a:p>
          <a:p>
            <a:pPr marL="0" indent="0">
              <a:buNone/>
            </a:pPr>
            <a:endParaRPr lang="en-IN" sz="3200" b="1" dirty="0"/>
          </a:p>
        </p:txBody>
      </p:sp>
      <p:sp>
        <p:nvSpPr>
          <p:cNvPr id="6" name="Rectangle 5"/>
          <p:cNvSpPr/>
          <p:nvPr/>
        </p:nvSpPr>
        <p:spPr>
          <a:xfrm>
            <a:off x="356135" y="1806946"/>
            <a:ext cx="11223056" cy="4524315"/>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1.Aim : </a:t>
            </a:r>
            <a:r>
              <a:rPr lang="en-US" dirty="0">
                <a:latin typeface="Times New Roman" panose="02020603050405020304" pitchFamily="18" charset="0"/>
                <a:cs typeface="Times New Roman" panose="02020603050405020304" pitchFamily="18" charset="0"/>
              </a:rPr>
              <a:t>The aim is to improve the performance of the Advanced Encryption Standard (AES) algorithm by implementing it on Field Programmable Gate Arrays (FPGAs). The focus is on achieving higher speed, better flexibility, and reduced hardware complexity compared to software-based implementations.</a:t>
            </a:r>
          </a:p>
          <a:p>
            <a:r>
              <a:rPr lang="en-US" b="1" dirty="0">
                <a:latin typeface="Times New Roman" panose="02020603050405020304" pitchFamily="18" charset="0"/>
                <a:cs typeface="Times New Roman" panose="02020603050405020304" pitchFamily="18" charset="0"/>
              </a:rPr>
              <a:t>2.Methodology</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Encryption Standard: Uses the AES algorithm with a 128-bit block size and 128-bit key size.  </a:t>
            </a:r>
          </a:p>
          <a:p>
            <a:r>
              <a:rPr lang="en-US" dirty="0">
                <a:latin typeface="Times New Roman" panose="02020603050405020304" pitchFamily="18" charset="0"/>
                <a:cs typeface="Times New Roman" panose="02020603050405020304" pitchFamily="18" charset="0"/>
              </a:rPr>
              <a:t>FPGA Implementation: The AES encryption algorithm is implemented using VHDL (VHSIC Hardware Description Language) and simulated on Xilinx ISE 14.4.  </a:t>
            </a:r>
          </a:p>
          <a:p>
            <a:r>
              <a:rPr lang="en-US" dirty="0">
                <a:latin typeface="Times New Roman" panose="02020603050405020304" pitchFamily="18" charset="0"/>
                <a:cs typeface="Times New Roman" panose="02020603050405020304" pitchFamily="18" charset="0"/>
              </a:rPr>
              <a:t>Design Approach: A repetitive looping method is used to improve performance.  </a:t>
            </a:r>
          </a:p>
          <a:p>
            <a:r>
              <a:rPr lang="en-US" dirty="0">
                <a:latin typeface="Times New Roman" panose="02020603050405020304" pitchFamily="18" charset="0"/>
                <a:cs typeface="Times New Roman" panose="02020603050405020304" pitchFamily="18" charset="0"/>
              </a:rPr>
              <a:t>Hardware Platform: Implementation is tested on Xilinx Spartan-6 (XC6SLX45) and Virtex-5 (XC5VFX130) FPGA chips.  </a:t>
            </a:r>
          </a:p>
          <a:p>
            <a:r>
              <a:rPr lang="en-US" dirty="0">
                <a:latin typeface="Times New Roman" panose="02020603050405020304" pitchFamily="18" charset="0"/>
                <a:cs typeface="Times New Roman" panose="02020603050405020304" pitchFamily="18" charset="0"/>
              </a:rPr>
              <a:t>Key Operations in AES Encryption:    </a:t>
            </a:r>
          </a:p>
          <a:p>
            <a:r>
              <a:rPr lang="en-US" dirty="0">
                <a:latin typeface="Times New Roman" panose="02020603050405020304" pitchFamily="18" charset="0"/>
                <a:cs typeface="Times New Roman" panose="02020603050405020304" pitchFamily="18" charset="0"/>
              </a:rPr>
              <a:t>SubBytes Transformation: Byte substitution using an S-Box.    </a:t>
            </a:r>
          </a:p>
          <a:p>
            <a:r>
              <a:rPr lang="en-US" dirty="0">
                <a:latin typeface="Times New Roman" panose="02020603050405020304" pitchFamily="18" charset="0"/>
                <a:cs typeface="Times New Roman" panose="02020603050405020304" pitchFamily="18" charset="0"/>
              </a:rPr>
              <a:t>ShiftRows Transformation: Cyclic shift of rows for data diffusion.    </a:t>
            </a:r>
          </a:p>
          <a:p>
            <a:r>
              <a:rPr lang="en-US" dirty="0">
                <a:latin typeface="Times New Roman" panose="02020603050405020304" pitchFamily="18" charset="0"/>
                <a:cs typeface="Times New Roman" panose="02020603050405020304" pitchFamily="18" charset="0"/>
              </a:rPr>
              <a:t>MixColumns Transformation: Polynomial multiplication for mixing data. </a:t>
            </a:r>
          </a:p>
          <a:p>
            <a:r>
              <a:rPr lang="en-US" dirty="0">
                <a:latin typeface="Times New Roman" panose="02020603050405020304" pitchFamily="18" charset="0"/>
                <a:cs typeface="Times New Roman" panose="02020603050405020304" pitchFamily="18" charset="0"/>
              </a:rPr>
              <a:t>AddRoundKey Transformation: XOR operation with the expanded key.  </a:t>
            </a:r>
          </a:p>
          <a:p>
            <a:r>
              <a:rPr lang="en-US" dirty="0">
                <a:latin typeface="Times New Roman" panose="02020603050405020304" pitchFamily="18" charset="0"/>
                <a:cs typeface="Times New Roman" panose="02020603050405020304" pitchFamily="18" charset="0"/>
              </a:rPr>
              <a:t>Key Expansion: A Key Expansion Algorithm generates a series of round keys from the initial encryption key.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p:cNvSpPr>
            <a:spLocks noGrp="1"/>
          </p:cNvSpPr>
          <p:nvPr>
            <p:ph idx="1"/>
          </p:nvPr>
        </p:nvSpPr>
        <p:spPr>
          <a:xfrm>
            <a:off x="302591" y="1319134"/>
            <a:ext cx="11056375" cy="4857829"/>
          </a:xfrm>
        </p:spPr>
        <p:txBody>
          <a:bodyPr>
            <a:normAutofit/>
          </a:bodyPr>
          <a:lstStyle/>
          <a:p>
            <a:pPr marL="0" indent="0">
              <a:buNone/>
            </a:pPr>
            <a:r>
              <a:rPr lang="en-IN" sz="3200" b="1" dirty="0"/>
              <a:t> </a:t>
            </a:r>
          </a:p>
          <a:p>
            <a:pPr marL="0" indent="0">
              <a:buNone/>
            </a:pPr>
            <a:endParaRPr lang="en-IN" sz="3200" b="1" dirty="0"/>
          </a:p>
          <a:p>
            <a:pPr marL="0" indent="0">
              <a:buNone/>
            </a:pPr>
            <a:endParaRPr lang="en-IN" sz="3200" b="1" dirty="0"/>
          </a:p>
          <a:p>
            <a:pPr marL="0" indent="0">
              <a:buNone/>
            </a:pPr>
            <a:endParaRPr lang="en-IN" sz="3200" b="1" dirty="0"/>
          </a:p>
        </p:txBody>
      </p:sp>
      <p:sp>
        <p:nvSpPr>
          <p:cNvPr id="6" name="Rectangle 5"/>
          <p:cNvSpPr/>
          <p:nvPr/>
        </p:nvSpPr>
        <p:spPr>
          <a:xfrm>
            <a:off x="596766" y="1155032"/>
            <a:ext cx="11155680" cy="3415030"/>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3.Conclusion :</a:t>
            </a:r>
          </a:p>
          <a:p>
            <a:r>
              <a:rPr lang="en-US" dirty="0">
                <a:latin typeface="Times New Roman" panose="02020603050405020304" pitchFamily="18" charset="0"/>
                <a:cs typeface="Times New Roman" panose="02020603050405020304" pitchFamily="18" charset="0"/>
              </a:rPr>
              <a:t>The FPGA-based AES implementation achieves higher frequency and better hardware efficiency compared to previous works. The hardware complexity is reduced, requiring fewer slice registers and LUTs (Look-Up Tables).The implementation achieves better throughput and area efficiency compared to prior designs. </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4.Gaps:</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Limited Key Size Implementation: Focuses only on AES-128, whereas AES-192 and AES-256 could provide higher security.  </a:t>
            </a:r>
          </a:p>
          <a:p>
            <a:r>
              <a:rPr lang="en-US" dirty="0">
                <a:latin typeface="Times New Roman" panose="02020603050405020304" pitchFamily="18" charset="0"/>
                <a:cs typeface="Times New Roman" panose="02020603050405020304" pitchFamily="18" charset="0"/>
              </a:rPr>
              <a:t> No Power Consumption Analysis: While speed and hardware utilization are analyzed, power consumption is not evaluated, which is crucial for real-world applications.  </a:t>
            </a:r>
          </a:p>
          <a:p>
            <a:r>
              <a:rPr lang="en-US" dirty="0">
                <a:latin typeface="Times New Roman" panose="02020603050405020304" pitchFamily="18" charset="0"/>
                <a:cs typeface="Times New Roman" panose="02020603050405020304" pitchFamily="18" charset="0"/>
              </a:rPr>
              <a:t> Comparison with Other FPGA Platforms: Limited to Xilinx Spartan-6 and Virtex-5 FPGAs. Comparison with modern FPGAs like Virtex-7 could provide more insights.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p:cNvSpPr>
            <a:spLocks noGrp="1"/>
          </p:cNvSpPr>
          <p:nvPr>
            <p:ph idx="1"/>
          </p:nvPr>
        </p:nvSpPr>
        <p:spPr>
          <a:xfrm>
            <a:off x="109855" y="932180"/>
            <a:ext cx="11056620" cy="5244465"/>
          </a:xfrm>
        </p:spPr>
        <p:txBody>
          <a:bodyPr>
            <a:normAutofit/>
          </a:bodyPr>
          <a:lstStyle/>
          <a:p>
            <a:pPr marL="0" indent="0">
              <a:buNone/>
            </a:pPr>
            <a:r>
              <a:rPr lang="en-IN" sz="3200" b="1" dirty="0"/>
              <a:t> </a:t>
            </a:r>
          </a:p>
          <a:p>
            <a:pPr marL="0" indent="0">
              <a:buNone/>
            </a:pPr>
            <a:endParaRPr lang="en-IN" sz="3200" b="1" dirty="0"/>
          </a:p>
          <a:p>
            <a:pPr marL="0" indent="0">
              <a:buNone/>
            </a:pPr>
            <a:endParaRPr lang="en-IN" sz="3200" b="1" dirty="0"/>
          </a:p>
          <a:p>
            <a:pPr marL="0" indent="0">
              <a:buNone/>
            </a:pPr>
            <a:endParaRPr lang="en-US" altLang="en-IN" sz="3200" b="1" dirty="0"/>
          </a:p>
        </p:txBody>
      </p:sp>
      <p:sp>
        <p:nvSpPr>
          <p:cNvPr id="6" name="Rectangle 5"/>
          <p:cNvSpPr/>
          <p:nvPr/>
        </p:nvSpPr>
        <p:spPr>
          <a:xfrm>
            <a:off x="109855" y="1677035"/>
            <a:ext cx="11906885" cy="5068570"/>
          </a:xfrm>
          <a:prstGeom prst="rect">
            <a:avLst/>
          </a:prstGeom>
        </p:spPr>
        <p:txBody>
          <a:bodyPr wrap="square">
            <a:noAutofit/>
          </a:bodyPr>
          <a:lstStyle/>
          <a:p>
            <a:r>
              <a:rPr lang="en-US" altLang="en-US" b="1" dirty="0">
                <a:latin typeface="Times New Roman" panose="02020603050405020304" pitchFamily="18" charset="0"/>
                <a:cs typeface="Times New Roman" panose="02020603050405020304" pitchFamily="18" charset="0"/>
              </a:rPr>
              <a:t>1.Aim:</a:t>
            </a:r>
          </a:p>
          <a:p>
            <a:r>
              <a:rPr lang="en-US" altLang="en-US" dirty="0">
                <a:latin typeface="Times New Roman" panose="02020603050405020304" pitchFamily="18" charset="0"/>
                <a:cs typeface="Times New Roman" panose="02020603050405020304" pitchFamily="18" charset="0"/>
              </a:rPr>
              <a:t>To design an optimized AES hardware system with dual key sizes (128-bit &amp; 256-bit), enhancing security and reducing area, delay, and power consumption.</a:t>
            </a:r>
          </a:p>
          <a:p>
            <a:endParaRPr lang="en-US" altLang="en-US"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2.Methodology:</a:t>
            </a:r>
            <a:endParaRPr lang="en-US" alt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Dual Key Encryption: Introduced a second random 128-bit key for initial XOR operation before encryption to increase security.</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Modified SubByte Operation: Bytes in the state matrix are swapped before S-box substitution, making decryption harder for attackers.</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Compact MixColumn &amp; Inverse-MixColumn: Used only XOR operations , reducing hardware resource usage.</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Iterative Encryption/Decryption Core: Designed an optimized structure to reduce area and delay.</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Hardware Implementation: Developed in Verilog and tested using ModelSim-Altera 6.3g_p1 (Quartus II 8.1).</a:t>
            </a:r>
          </a:p>
          <a:p>
            <a:pPr marL="285750" indent="-285750">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Performance Evaluation: Compared area, power consumption, and delay with conventional AES implementations.</a:t>
            </a:r>
            <a:r>
              <a:rPr lang="en-US" dirty="0">
                <a:latin typeface="Times New Roman" panose="02020603050405020304" pitchFamily="18" charset="0"/>
                <a:cs typeface="Times New Roman" panose="02020603050405020304" pitchFamily="18" charset="0"/>
              </a:rPr>
              <a:t>   </a:t>
            </a:r>
          </a:p>
        </p:txBody>
      </p:sp>
      <p:sp>
        <p:nvSpPr>
          <p:cNvPr id="2" name="Text Box 1"/>
          <p:cNvSpPr txBox="1"/>
          <p:nvPr/>
        </p:nvSpPr>
        <p:spPr>
          <a:xfrm>
            <a:off x="298450" y="1017270"/>
            <a:ext cx="11893550" cy="453390"/>
          </a:xfrm>
          <a:prstGeom prst="rect">
            <a:avLst/>
          </a:prstGeom>
          <a:noFill/>
        </p:spPr>
        <p:txBody>
          <a:bodyPr wrap="square" rtlCol="0">
            <a:noAutofit/>
          </a:bodyPr>
          <a:lstStyle/>
          <a:p>
            <a:r>
              <a:rPr lang="en-US" altLang="en-US" sz="2000" b="1"/>
              <a:t>Title: An Efficient Implementation of AES algorithm using Custom Key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p:cNvSpPr>
            <a:spLocks noGrp="1"/>
          </p:cNvSpPr>
          <p:nvPr>
            <p:ph idx="1"/>
          </p:nvPr>
        </p:nvSpPr>
        <p:spPr>
          <a:xfrm>
            <a:off x="109855" y="932180"/>
            <a:ext cx="11056620" cy="5244465"/>
          </a:xfrm>
        </p:spPr>
        <p:txBody>
          <a:bodyPr>
            <a:normAutofit/>
          </a:bodyPr>
          <a:lstStyle/>
          <a:p>
            <a:pPr marL="0" indent="0">
              <a:buNone/>
            </a:pPr>
            <a:r>
              <a:rPr lang="en-IN" sz="3200" b="1" dirty="0"/>
              <a:t> </a:t>
            </a:r>
          </a:p>
          <a:p>
            <a:pPr marL="0" indent="0">
              <a:buNone/>
            </a:pPr>
            <a:endParaRPr lang="en-IN" sz="3200" b="1" dirty="0"/>
          </a:p>
          <a:p>
            <a:pPr marL="0" indent="0">
              <a:buNone/>
            </a:pPr>
            <a:endParaRPr lang="en-IN" sz="3200" b="1" dirty="0"/>
          </a:p>
          <a:p>
            <a:pPr marL="0" indent="0">
              <a:buNone/>
            </a:pPr>
            <a:endParaRPr lang="en-IN" sz="3200" b="1" dirty="0"/>
          </a:p>
        </p:txBody>
      </p:sp>
      <p:sp>
        <p:nvSpPr>
          <p:cNvPr id="6" name="Rectangle 5"/>
          <p:cNvSpPr/>
          <p:nvPr/>
        </p:nvSpPr>
        <p:spPr>
          <a:xfrm>
            <a:off x="109855" y="1398270"/>
            <a:ext cx="11906885" cy="4919980"/>
          </a:xfrm>
          <a:prstGeom prst="rect">
            <a:avLst/>
          </a:prstGeom>
        </p:spPr>
        <p:txBody>
          <a:bodyPr wrap="square">
            <a:noAutofit/>
          </a:bodyPr>
          <a:lstStyle/>
          <a:p>
            <a:endParaRPr lang="en-US"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298450" y="1017270"/>
            <a:ext cx="11893550" cy="453390"/>
          </a:xfrm>
          <a:prstGeom prst="rect">
            <a:avLst/>
          </a:prstGeom>
          <a:noFill/>
        </p:spPr>
        <p:txBody>
          <a:bodyPr wrap="square" rtlCol="0">
            <a:noAutofit/>
          </a:bodyPr>
          <a:lstStyle/>
          <a:p>
            <a:endParaRPr lang="en-US" altLang="en-US" b="1"/>
          </a:p>
        </p:txBody>
      </p:sp>
      <p:sp>
        <p:nvSpPr>
          <p:cNvPr id="3" name="Text Box 2"/>
          <p:cNvSpPr txBox="1"/>
          <p:nvPr/>
        </p:nvSpPr>
        <p:spPr>
          <a:xfrm>
            <a:off x="499110" y="1470660"/>
            <a:ext cx="11145520" cy="4848225"/>
          </a:xfrm>
          <a:prstGeom prst="rect">
            <a:avLst/>
          </a:prstGeom>
          <a:noFill/>
        </p:spPr>
        <p:txBody>
          <a:bodyPr wrap="square" rtlCol="0">
            <a:noAutofit/>
          </a:bodyPr>
          <a:lstStyle/>
          <a:p>
            <a:r>
              <a:rPr lang="en-US" altLang="en-US" b="1">
                <a:latin typeface="Times New Roman" panose="02020603050405020304" pitchFamily="18" charset="0"/>
                <a:cs typeface="Times New Roman" panose="02020603050405020304" pitchFamily="18" charset="0"/>
              </a:rPr>
              <a:t>3.Conclusion</a:t>
            </a: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proposed AES design reduces area by 21.27%, delay by 16.99%, and power consumption by 3.99% compared to conventional AES implementations.</a:t>
            </a: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modified algorithm enhances security by adding an additional key and altering the SubByte operation to counter side-channel attacks.</a:t>
            </a: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The iterative approach ensures reduced computation time while maintaining cryptographic strength.</a:t>
            </a:r>
          </a:p>
          <a:p>
            <a:endParaRPr lang="en-US" altLang="en-US">
              <a:latin typeface="Times New Roman" panose="02020603050405020304" pitchFamily="18" charset="0"/>
              <a:cs typeface="Times New Roman" panose="02020603050405020304" pitchFamily="18" charset="0"/>
            </a:endParaRPr>
          </a:p>
          <a:p>
            <a:r>
              <a:rPr lang="en-US" altLang="en-US" b="1">
                <a:latin typeface="Times New Roman" panose="02020603050405020304" pitchFamily="18" charset="0"/>
                <a:cs typeface="Times New Roman" panose="02020603050405020304" pitchFamily="18" charset="0"/>
              </a:rPr>
              <a:t>4.Gaps &amp; Future Scope</a:t>
            </a: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Security Testing: Further validation using different attack models and cryptanalysis techniques is needed.</a:t>
            </a: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Alternative Data Types: Future research can explore applying the modified AES algorithm to images, audio, and video encryption.</a:t>
            </a:r>
          </a:p>
          <a:p>
            <a:pPr marL="285750" indent="-285750">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Machine Learning Integration: A potential research avenue includes using ML models to classify secure vs. Trojan-injected AES implementations.</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p:cNvSpPr>
            <a:spLocks noGrp="1"/>
          </p:cNvSpPr>
          <p:nvPr>
            <p:ph idx="1"/>
          </p:nvPr>
        </p:nvSpPr>
        <p:spPr>
          <a:xfrm rot="10800000" flipV="1">
            <a:off x="297425" y="1017639"/>
            <a:ext cx="11675914" cy="664960"/>
          </a:xfrm>
        </p:spPr>
        <p:txBody>
          <a:bodyPr>
            <a:normAutofit/>
          </a:bodyPr>
          <a:lstStyle/>
          <a:p>
            <a:pPr marL="0" indent="0">
              <a:buNone/>
            </a:pPr>
            <a:r>
              <a:rPr lang="en-IN" sz="1800" b="1" dirty="0"/>
              <a:t>Simulation of </a:t>
            </a:r>
            <a:r>
              <a:rPr lang="en-IN" sz="1800" b="1" dirty="0" err="1"/>
              <a:t>Sbox</a:t>
            </a:r>
            <a:r>
              <a:rPr lang="en-IN" sz="1800" b="1" dirty="0"/>
              <a:t> Substitution</a:t>
            </a:r>
          </a:p>
          <a:p>
            <a:pPr marL="0" indent="0">
              <a:buNone/>
            </a:pPr>
            <a:endParaRPr lang="en-IN" sz="3200" b="1" dirty="0"/>
          </a:p>
          <a:p>
            <a:pPr marL="0" indent="0">
              <a:buNone/>
            </a:pPr>
            <a:endParaRPr lang="en-IN" sz="3200" b="1" dirty="0"/>
          </a:p>
          <a:p>
            <a:pPr marL="0" indent="0">
              <a:buNone/>
            </a:pPr>
            <a:endParaRPr lang="en-IN" sz="3200" b="1" dirty="0"/>
          </a:p>
        </p:txBody>
      </p:sp>
      <p:pic>
        <p:nvPicPr>
          <p:cNvPr id="7" name="Picture 6">
            <a:extLst>
              <a:ext uri="{FF2B5EF4-FFF2-40B4-BE49-F238E27FC236}">
                <a16:creationId xmlns:a16="http://schemas.microsoft.com/office/drawing/2014/main" id="{FF033794-C967-35C9-C31B-ED30506B1D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661" y="1451113"/>
            <a:ext cx="11753340" cy="508931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6251A-857D-C76D-2913-69D624826553}"/>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107B618D-4FF8-07D1-6112-71E7E9C9E61B}"/>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F25ABC1D-E6A6-8AEF-6F01-1D062AA38869}"/>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68CEFB3C-2142-8552-69C8-7322EC663CC4}"/>
              </a:ext>
            </a:extLst>
          </p:cNvPr>
          <p:cNvSpPr>
            <a:spLocks noGrp="1"/>
          </p:cNvSpPr>
          <p:nvPr>
            <p:ph idx="1"/>
          </p:nvPr>
        </p:nvSpPr>
        <p:spPr>
          <a:xfrm>
            <a:off x="109855" y="932180"/>
            <a:ext cx="11056620" cy="5244465"/>
          </a:xfrm>
        </p:spPr>
        <p:txBody>
          <a:bodyPr>
            <a:normAutofit/>
          </a:bodyPr>
          <a:lstStyle/>
          <a:p>
            <a:pPr marL="0" indent="0">
              <a:buNone/>
            </a:pPr>
            <a:r>
              <a:rPr lang="en-IN" sz="3200" b="1" dirty="0"/>
              <a:t> </a:t>
            </a:r>
          </a:p>
          <a:p>
            <a:pPr marL="0" indent="0">
              <a:buNone/>
            </a:pPr>
            <a:endParaRPr lang="en-IN" sz="3200" b="1" dirty="0"/>
          </a:p>
          <a:p>
            <a:pPr marL="0" indent="0">
              <a:buNone/>
            </a:pPr>
            <a:endParaRPr lang="en-IN" sz="3200" b="1" dirty="0"/>
          </a:p>
          <a:p>
            <a:pPr marL="0" indent="0">
              <a:buNone/>
            </a:pPr>
            <a:endParaRPr lang="en-IN" sz="3200" b="1" dirty="0"/>
          </a:p>
        </p:txBody>
      </p:sp>
      <p:sp>
        <p:nvSpPr>
          <p:cNvPr id="6" name="Rectangle 5">
            <a:extLst>
              <a:ext uri="{FF2B5EF4-FFF2-40B4-BE49-F238E27FC236}">
                <a16:creationId xmlns:a16="http://schemas.microsoft.com/office/drawing/2014/main" id="{808017FB-D486-1EBC-0253-08B0DE1DFDAB}"/>
              </a:ext>
            </a:extLst>
          </p:cNvPr>
          <p:cNvSpPr/>
          <p:nvPr/>
        </p:nvSpPr>
        <p:spPr>
          <a:xfrm>
            <a:off x="109855" y="1398270"/>
            <a:ext cx="11906885" cy="4919980"/>
          </a:xfrm>
          <a:prstGeom prst="rect">
            <a:avLst/>
          </a:prstGeom>
        </p:spPr>
        <p:txBody>
          <a:bodyPr wrap="square">
            <a:noAutofit/>
          </a:bodyPr>
          <a:lstStyle/>
          <a:p>
            <a:endParaRPr lang="en-US" dirty="0">
              <a:latin typeface="Times New Roman" panose="02020603050405020304" pitchFamily="18" charset="0"/>
              <a:cs typeface="Times New Roman" panose="02020603050405020304" pitchFamily="18" charset="0"/>
            </a:endParaRPr>
          </a:p>
        </p:txBody>
      </p:sp>
      <p:sp>
        <p:nvSpPr>
          <p:cNvPr id="2" name="Text Box 1">
            <a:extLst>
              <a:ext uri="{FF2B5EF4-FFF2-40B4-BE49-F238E27FC236}">
                <a16:creationId xmlns:a16="http://schemas.microsoft.com/office/drawing/2014/main" id="{1FA40277-EFA5-5888-38F4-01C626286982}"/>
              </a:ext>
            </a:extLst>
          </p:cNvPr>
          <p:cNvSpPr txBox="1"/>
          <p:nvPr/>
        </p:nvSpPr>
        <p:spPr>
          <a:xfrm>
            <a:off x="298450" y="1017270"/>
            <a:ext cx="11893550" cy="453390"/>
          </a:xfrm>
          <a:prstGeom prst="rect">
            <a:avLst/>
          </a:prstGeom>
          <a:noFill/>
        </p:spPr>
        <p:txBody>
          <a:bodyPr wrap="square" rtlCol="0">
            <a:noAutofit/>
          </a:bodyPr>
          <a:lstStyle/>
          <a:p>
            <a:r>
              <a:rPr lang="en-US" altLang="en-US" b="1" dirty="0"/>
              <a:t>Simulation of </a:t>
            </a:r>
            <a:r>
              <a:rPr lang="en-US" altLang="en-US" b="1" dirty="0" err="1"/>
              <a:t>Subbyte</a:t>
            </a:r>
            <a:r>
              <a:rPr lang="en-US" altLang="en-US" b="1" dirty="0"/>
              <a:t> Transformation</a:t>
            </a:r>
          </a:p>
        </p:txBody>
      </p:sp>
      <p:sp>
        <p:nvSpPr>
          <p:cNvPr id="3" name="Text Box 2">
            <a:extLst>
              <a:ext uri="{FF2B5EF4-FFF2-40B4-BE49-F238E27FC236}">
                <a16:creationId xmlns:a16="http://schemas.microsoft.com/office/drawing/2014/main" id="{CE7F7E20-EE80-AEB3-D953-585269E01C01}"/>
              </a:ext>
            </a:extLst>
          </p:cNvPr>
          <p:cNvSpPr txBox="1"/>
          <p:nvPr/>
        </p:nvSpPr>
        <p:spPr>
          <a:xfrm>
            <a:off x="499110" y="1470660"/>
            <a:ext cx="11145520" cy="4848225"/>
          </a:xfrm>
          <a:prstGeom prst="rect">
            <a:avLst/>
          </a:prstGeom>
          <a:noFill/>
        </p:spPr>
        <p:txBody>
          <a:bodyPr wrap="square" rtlCol="0">
            <a:noAutofit/>
          </a:bodyPr>
          <a:lstStyle/>
          <a:p>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341DCFF-721F-C3B4-C2C2-1842ECA70D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850" y="1470660"/>
            <a:ext cx="11622344" cy="5228221"/>
          </a:xfrm>
          <a:prstGeom prst="rect">
            <a:avLst/>
          </a:prstGeom>
        </p:spPr>
      </p:pic>
    </p:spTree>
    <p:extLst>
      <p:ext uri="{BB962C8B-B14F-4D97-AF65-F5344CB8AC3E}">
        <p14:creationId xmlns:p14="http://schemas.microsoft.com/office/powerpoint/2010/main" val="30912614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93981-6240-E60B-C995-BC0BD722000D}"/>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E1B35D7A-60C0-61F1-6555-BC29A1CA1691}"/>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C41F4DFB-D665-D51B-A508-C53E8436F26A}"/>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11BCB2D3-EFE1-9F2A-5ED8-7D0C98ED8427}"/>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t>Simulation of  Shift Rows </a:t>
            </a:r>
            <a:r>
              <a:rPr lang="en-US" sz="7200" b="1" dirty="0"/>
              <a:t>Transformations </a:t>
            </a:r>
            <a:endParaRPr lang="en-IN" sz="7200" b="1" dirty="0"/>
          </a:p>
          <a:p>
            <a:pPr marL="0" indent="0">
              <a:buNone/>
            </a:pPr>
            <a:endParaRPr lang="en-IN" sz="3200" b="1" dirty="0"/>
          </a:p>
          <a:p>
            <a:pPr marL="0" indent="0">
              <a:buNone/>
            </a:pPr>
            <a:r>
              <a:rPr lang="en-IN" sz="3200" b="1" dirty="0"/>
              <a:t>S</a:t>
            </a:r>
          </a:p>
        </p:txBody>
      </p:sp>
      <p:pic>
        <p:nvPicPr>
          <p:cNvPr id="7" name="Picture 6">
            <a:extLst>
              <a:ext uri="{FF2B5EF4-FFF2-40B4-BE49-F238E27FC236}">
                <a16:creationId xmlns:a16="http://schemas.microsoft.com/office/drawing/2014/main" id="{4FF8465B-F702-E650-5455-6652928E50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424" y="1544598"/>
            <a:ext cx="11591985" cy="5184252"/>
          </a:xfrm>
          <a:prstGeom prst="rect">
            <a:avLst/>
          </a:prstGeom>
        </p:spPr>
      </p:pic>
    </p:spTree>
    <p:extLst>
      <p:ext uri="{BB962C8B-B14F-4D97-AF65-F5344CB8AC3E}">
        <p14:creationId xmlns:p14="http://schemas.microsoft.com/office/powerpoint/2010/main" val="592438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3E8CE-DA85-35FD-467B-7C6D58635449}"/>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10B1AC5D-FDE9-5264-FA6C-B318E7E5B79F}"/>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F53E5FE6-B1C5-A4A8-8CC1-103B706ED505}"/>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576E7550-5C4B-0138-5385-DA9D5B9CFA9C}"/>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a:t>
            </a:r>
            <a:r>
              <a:rPr lang="en-IN" sz="7200" b="1" dirty="0" err="1">
                <a:latin typeface="Times New Roman" panose="02020603050405020304" pitchFamily="18" charset="0"/>
                <a:cs typeface="Times New Roman" panose="02020603050405020304" pitchFamily="18" charset="0"/>
              </a:rPr>
              <a:t>Mixcolumns</a:t>
            </a:r>
            <a:r>
              <a:rPr lang="en-IN" sz="7200" b="1" dirty="0">
                <a:latin typeface="Times New Roman" panose="02020603050405020304" pitchFamily="18" charset="0"/>
                <a:cs typeface="Times New Roman" panose="02020603050405020304" pitchFamily="18" charset="0"/>
              </a:rPr>
              <a:t> </a:t>
            </a:r>
            <a:r>
              <a:rPr lang="en-US" sz="7200" b="1" dirty="0">
                <a:latin typeface="Times New Roman" panose="02020603050405020304" pitchFamily="18" charset="0"/>
                <a:cs typeface="Times New Roman" panose="02020603050405020304" pitchFamily="18" charset="0"/>
              </a:rPr>
              <a:t>Transformation</a:t>
            </a:r>
            <a:endParaRPr lang="en-IN" sz="7200" b="1" dirty="0">
              <a:latin typeface="Times New Roman" panose="02020603050405020304" pitchFamily="18" charset="0"/>
              <a:cs typeface="Times New Roman" panose="02020603050405020304" pitchFamily="18" charset="0"/>
            </a:endParaRPr>
          </a:p>
          <a:p>
            <a:pPr marL="0" indent="0">
              <a:buNone/>
            </a:pPr>
            <a:endParaRPr lang="en-IN" sz="3200" b="1" dirty="0"/>
          </a:p>
          <a:p>
            <a:pPr marL="0" indent="0">
              <a:buNone/>
            </a:pPr>
            <a:endParaRPr lang="en-IN" sz="3200" b="1" dirty="0"/>
          </a:p>
        </p:txBody>
      </p:sp>
      <p:pic>
        <p:nvPicPr>
          <p:cNvPr id="3" name="Picture 2">
            <a:extLst>
              <a:ext uri="{FF2B5EF4-FFF2-40B4-BE49-F238E27FC236}">
                <a16:creationId xmlns:a16="http://schemas.microsoft.com/office/drawing/2014/main" id="{5A423467-7C79-6FB7-2DB2-5AFAB789F5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3944" y="1828800"/>
            <a:ext cx="11586819" cy="4527679"/>
          </a:xfrm>
          <a:prstGeom prst="rect">
            <a:avLst/>
          </a:prstGeom>
        </p:spPr>
      </p:pic>
    </p:spTree>
    <p:extLst>
      <p:ext uri="{BB962C8B-B14F-4D97-AF65-F5344CB8AC3E}">
        <p14:creationId xmlns:p14="http://schemas.microsoft.com/office/powerpoint/2010/main" val="4112126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BDCA3-1B34-909B-6C4B-B9C2C7A0B95E}"/>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E6318A51-137A-0D69-3B16-C1A89432AA22}"/>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A6F2C1A6-E532-3E56-7FE7-950BC5E527DC}"/>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99904AC1-056F-D497-411E-B91B7CD0D2AA}"/>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Initial round and </a:t>
            </a:r>
            <a:r>
              <a:rPr lang="en-IN" sz="7200" b="1" dirty="0" err="1">
                <a:latin typeface="Times New Roman" panose="02020603050405020304" pitchFamily="18" charset="0"/>
                <a:cs typeface="Times New Roman" panose="02020603050405020304" pitchFamily="18" charset="0"/>
              </a:rPr>
              <a:t>Subbytes</a:t>
            </a:r>
            <a:endParaRPr lang="en-IN" sz="7200" b="1" dirty="0">
              <a:latin typeface="Times New Roman" panose="02020603050405020304" pitchFamily="18" charset="0"/>
              <a:cs typeface="Times New Roman" panose="02020603050405020304" pitchFamily="18" charset="0"/>
            </a:endParaRPr>
          </a:p>
          <a:p>
            <a:pPr marL="0" indent="0">
              <a:buNone/>
            </a:pPr>
            <a:endParaRPr lang="en-IN" sz="3200" b="1" dirty="0"/>
          </a:p>
          <a:p>
            <a:pPr marL="0" indent="0">
              <a:buNone/>
            </a:pPr>
            <a:endParaRPr lang="en-IN" sz="3200" b="1" dirty="0"/>
          </a:p>
        </p:txBody>
      </p:sp>
      <p:pic>
        <p:nvPicPr>
          <p:cNvPr id="6" name="Picture 5">
            <a:extLst>
              <a:ext uri="{FF2B5EF4-FFF2-40B4-BE49-F238E27FC236}">
                <a16:creationId xmlns:a16="http://schemas.microsoft.com/office/drawing/2014/main" id="{E0CC5DE4-16E6-8D9B-4F3F-355239AB59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00025" y="1715784"/>
            <a:ext cx="9677166" cy="4794821"/>
          </a:xfrm>
          <a:prstGeom prst="rect">
            <a:avLst/>
          </a:prstGeom>
        </p:spPr>
      </p:pic>
    </p:spTree>
    <p:extLst>
      <p:ext uri="{BB962C8B-B14F-4D97-AF65-F5344CB8AC3E}">
        <p14:creationId xmlns:p14="http://schemas.microsoft.com/office/powerpoint/2010/main" val="2592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5F6DC-1457-931E-9CAD-C12408A71313}"/>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45A1EEE8-7D63-9D23-4910-59C4129876EC}"/>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13DD228A-9170-6400-A8EC-D0C2DAE88041}"/>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CEB5BEA7-9CA2-FCA3-FBFF-FE806578104E}"/>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Initial round, </a:t>
            </a:r>
            <a:r>
              <a:rPr lang="en-IN" sz="7200" b="1" dirty="0" err="1">
                <a:latin typeface="Times New Roman" panose="02020603050405020304" pitchFamily="18" charset="0"/>
                <a:cs typeface="Times New Roman" panose="02020603050405020304" pitchFamily="18" charset="0"/>
              </a:rPr>
              <a:t>Subbytes</a:t>
            </a:r>
            <a:r>
              <a:rPr lang="en-IN" sz="7200" b="1" dirty="0">
                <a:latin typeface="Times New Roman" panose="02020603050405020304" pitchFamily="18" charset="0"/>
                <a:cs typeface="Times New Roman" panose="02020603050405020304" pitchFamily="18" charset="0"/>
              </a:rPr>
              <a:t> and </a:t>
            </a:r>
            <a:r>
              <a:rPr lang="en-IN" sz="7200" b="1" dirty="0" err="1">
                <a:latin typeface="Times New Roman" panose="02020603050405020304" pitchFamily="18" charset="0"/>
                <a:cs typeface="Times New Roman" panose="02020603050405020304" pitchFamily="18" charset="0"/>
              </a:rPr>
              <a:t>Shiftrows</a:t>
            </a:r>
            <a:r>
              <a:rPr lang="en-IN" sz="7200" b="1" dirty="0">
                <a:latin typeface="Times New Roman" panose="02020603050405020304" pitchFamily="18" charset="0"/>
                <a:cs typeface="Times New Roman" panose="02020603050405020304" pitchFamily="18" charset="0"/>
              </a:rPr>
              <a:t>  </a:t>
            </a:r>
          </a:p>
          <a:p>
            <a:pPr marL="0" indent="0">
              <a:buNone/>
            </a:pPr>
            <a:endParaRPr lang="en-IN" sz="3200" b="1" dirty="0"/>
          </a:p>
          <a:p>
            <a:pPr marL="0" indent="0">
              <a:buNone/>
            </a:pPr>
            <a:endParaRPr lang="en-IN" sz="3200" b="1" dirty="0"/>
          </a:p>
        </p:txBody>
      </p:sp>
      <p:pic>
        <p:nvPicPr>
          <p:cNvPr id="3" name="Picture 2">
            <a:extLst>
              <a:ext uri="{FF2B5EF4-FFF2-40B4-BE49-F238E27FC236}">
                <a16:creationId xmlns:a16="http://schemas.microsoft.com/office/drawing/2014/main" id="{70F030AE-0FBC-27AA-769A-F14BC2695F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32898" y="1794124"/>
            <a:ext cx="9480495" cy="4832708"/>
          </a:xfrm>
          <a:prstGeom prst="rect">
            <a:avLst/>
          </a:prstGeom>
        </p:spPr>
      </p:pic>
    </p:spTree>
    <p:extLst>
      <p:ext uri="{BB962C8B-B14F-4D97-AF65-F5344CB8AC3E}">
        <p14:creationId xmlns:p14="http://schemas.microsoft.com/office/powerpoint/2010/main" val="1046753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7049E-281F-4D2C-A70A-82DA80C0A865}"/>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05C63CDD-CEDD-172A-B7F8-EB52E00CAEBB}"/>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78ECFFE1-1A9B-1A04-E7F7-7E65376023D6}"/>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6F934EEF-483F-16C1-929A-33A9816FA866}"/>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Initial round, </a:t>
            </a:r>
            <a:r>
              <a:rPr lang="en-IN" sz="7200" b="1" dirty="0" err="1">
                <a:latin typeface="Times New Roman" panose="02020603050405020304" pitchFamily="18" charset="0"/>
                <a:cs typeface="Times New Roman" panose="02020603050405020304" pitchFamily="18" charset="0"/>
              </a:rPr>
              <a:t>Subbytes</a:t>
            </a:r>
            <a:r>
              <a:rPr lang="en-IN" sz="7200" b="1" dirty="0">
                <a:latin typeface="Times New Roman" panose="02020603050405020304" pitchFamily="18" charset="0"/>
                <a:cs typeface="Times New Roman" panose="02020603050405020304" pitchFamily="18" charset="0"/>
              </a:rPr>
              <a:t> , </a:t>
            </a:r>
            <a:r>
              <a:rPr lang="en-IN" sz="7200" b="1" dirty="0" err="1">
                <a:latin typeface="Times New Roman" panose="02020603050405020304" pitchFamily="18" charset="0"/>
                <a:cs typeface="Times New Roman" panose="02020603050405020304" pitchFamily="18" charset="0"/>
              </a:rPr>
              <a:t>Shiftrows</a:t>
            </a:r>
            <a:r>
              <a:rPr lang="en-IN" sz="7200" b="1" dirty="0">
                <a:latin typeface="Times New Roman" panose="02020603050405020304" pitchFamily="18" charset="0"/>
                <a:cs typeface="Times New Roman" panose="02020603050405020304" pitchFamily="18" charset="0"/>
              </a:rPr>
              <a:t> and </a:t>
            </a:r>
            <a:r>
              <a:rPr lang="en-IN" sz="7200" b="1" dirty="0" err="1">
                <a:latin typeface="Times New Roman" panose="02020603050405020304" pitchFamily="18" charset="0"/>
                <a:cs typeface="Times New Roman" panose="02020603050405020304" pitchFamily="18" charset="0"/>
              </a:rPr>
              <a:t>Mixcolumns</a:t>
            </a:r>
            <a:endParaRPr lang="en-IN" sz="7200" b="1" dirty="0">
              <a:latin typeface="Times New Roman" panose="02020603050405020304" pitchFamily="18" charset="0"/>
              <a:cs typeface="Times New Roman" panose="02020603050405020304" pitchFamily="18" charset="0"/>
            </a:endParaRPr>
          </a:p>
          <a:p>
            <a:pPr marL="0" indent="0">
              <a:buNone/>
            </a:pPr>
            <a:endParaRPr lang="en-IN" sz="3200" b="1" dirty="0"/>
          </a:p>
          <a:p>
            <a:pPr marL="0" indent="0">
              <a:buNone/>
            </a:pPr>
            <a:endParaRPr lang="en-IN" sz="3200" b="1" dirty="0"/>
          </a:p>
        </p:txBody>
      </p:sp>
      <p:pic>
        <p:nvPicPr>
          <p:cNvPr id="3" name="Picture 2">
            <a:extLst>
              <a:ext uri="{FF2B5EF4-FFF2-40B4-BE49-F238E27FC236}">
                <a16:creationId xmlns:a16="http://schemas.microsoft.com/office/drawing/2014/main" id="{6646A944-33BD-1289-C0B3-87B6B07A64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15091" y="1544598"/>
            <a:ext cx="9274139" cy="5216703"/>
          </a:xfrm>
          <a:prstGeom prst="rect">
            <a:avLst/>
          </a:prstGeom>
        </p:spPr>
      </p:pic>
    </p:spTree>
    <p:extLst>
      <p:ext uri="{BB962C8B-B14F-4D97-AF65-F5344CB8AC3E}">
        <p14:creationId xmlns:p14="http://schemas.microsoft.com/office/powerpoint/2010/main" val="848438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609DD-FB79-77C1-AEF8-855476D2EDD7}"/>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F92A37AF-AFF1-8088-A624-F4E96666F009}"/>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2B5B763F-A9A8-9BD8-E7C9-52BBBE25B16C}"/>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95E38D0C-DE75-66F4-C2B9-2FF96F5D97F3}"/>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Initial round, </a:t>
            </a:r>
            <a:r>
              <a:rPr lang="en-IN" sz="7200" b="1" dirty="0" err="1">
                <a:latin typeface="Times New Roman" panose="02020603050405020304" pitchFamily="18" charset="0"/>
                <a:cs typeface="Times New Roman" panose="02020603050405020304" pitchFamily="18" charset="0"/>
              </a:rPr>
              <a:t>Subbytes</a:t>
            </a:r>
            <a:r>
              <a:rPr lang="en-IN" sz="7200" b="1" dirty="0">
                <a:latin typeface="Times New Roman" panose="02020603050405020304" pitchFamily="18" charset="0"/>
                <a:cs typeface="Times New Roman" panose="02020603050405020304" pitchFamily="18" charset="0"/>
              </a:rPr>
              <a:t> , </a:t>
            </a:r>
            <a:r>
              <a:rPr lang="en-IN" sz="7200" b="1" dirty="0" err="1">
                <a:latin typeface="Times New Roman" panose="02020603050405020304" pitchFamily="18" charset="0"/>
                <a:cs typeface="Times New Roman" panose="02020603050405020304" pitchFamily="18" charset="0"/>
              </a:rPr>
              <a:t>Shiftrows</a:t>
            </a:r>
            <a:r>
              <a:rPr lang="en-IN" sz="7200" b="1" dirty="0">
                <a:latin typeface="Times New Roman" panose="02020603050405020304" pitchFamily="18" charset="0"/>
                <a:cs typeface="Times New Roman" panose="02020603050405020304" pitchFamily="18" charset="0"/>
              </a:rPr>
              <a:t>, </a:t>
            </a:r>
            <a:r>
              <a:rPr lang="en-IN" sz="7200" b="1" dirty="0" err="1">
                <a:latin typeface="Times New Roman" panose="02020603050405020304" pitchFamily="18" charset="0"/>
                <a:cs typeface="Times New Roman" panose="02020603050405020304" pitchFamily="18" charset="0"/>
              </a:rPr>
              <a:t>Mixcolumns</a:t>
            </a:r>
            <a:r>
              <a:rPr lang="en-IN" sz="7200" b="1" dirty="0">
                <a:latin typeface="Times New Roman" panose="02020603050405020304" pitchFamily="18" charset="0"/>
                <a:cs typeface="Times New Roman" panose="02020603050405020304" pitchFamily="18" charset="0"/>
              </a:rPr>
              <a:t> and </a:t>
            </a:r>
            <a:r>
              <a:rPr lang="en-IN" sz="7200" b="1" dirty="0" err="1">
                <a:latin typeface="Times New Roman" panose="02020603050405020304" pitchFamily="18" charset="0"/>
                <a:cs typeface="Times New Roman" panose="02020603050405020304" pitchFamily="18" charset="0"/>
              </a:rPr>
              <a:t>Addroundkey</a:t>
            </a:r>
            <a:endParaRPr lang="en-IN" sz="7200" b="1" dirty="0">
              <a:latin typeface="Times New Roman" panose="02020603050405020304" pitchFamily="18" charset="0"/>
              <a:cs typeface="Times New Roman" panose="02020603050405020304" pitchFamily="18" charset="0"/>
            </a:endParaRPr>
          </a:p>
          <a:p>
            <a:pPr marL="0" indent="0">
              <a:buNone/>
            </a:pPr>
            <a:endParaRPr lang="en-IN" sz="3200" b="1" dirty="0"/>
          </a:p>
          <a:p>
            <a:pPr marL="0" indent="0">
              <a:buNone/>
            </a:pPr>
            <a:endParaRPr lang="en-IN" sz="3200" b="1" dirty="0"/>
          </a:p>
        </p:txBody>
      </p:sp>
      <p:pic>
        <p:nvPicPr>
          <p:cNvPr id="6" name="Picture 5">
            <a:extLst>
              <a:ext uri="{FF2B5EF4-FFF2-40B4-BE49-F238E27FC236}">
                <a16:creationId xmlns:a16="http://schemas.microsoft.com/office/drawing/2014/main" id="{3F2B2472-A7B5-159B-7EE7-D7F9F1DF7F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400" y="1630017"/>
            <a:ext cx="10795000" cy="4793729"/>
          </a:xfrm>
          <a:prstGeom prst="rect">
            <a:avLst/>
          </a:prstGeom>
        </p:spPr>
      </p:pic>
    </p:spTree>
    <p:extLst>
      <p:ext uri="{BB962C8B-B14F-4D97-AF65-F5344CB8AC3E}">
        <p14:creationId xmlns:p14="http://schemas.microsoft.com/office/powerpoint/2010/main" val="26038586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FC9C4-F5FD-1FBB-9B07-BDE0D04F7131}"/>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084EB790-D06A-2855-6C2E-68CCE78BD641}"/>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14EAA551-754E-DAAC-D7AE-97C58E22AB85}"/>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FA7F6667-6B65-C92F-C749-3F32C0D94E40}"/>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AES Round Controller</a:t>
            </a:r>
          </a:p>
          <a:p>
            <a:pPr marL="0" indent="0">
              <a:buNone/>
            </a:pPr>
            <a:endParaRPr lang="en-IN" sz="3200" b="1" dirty="0"/>
          </a:p>
          <a:p>
            <a:pPr marL="0" indent="0">
              <a:buNone/>
            </a:pPr>
            <a:endParaRPr lang="en-IN" sz="3200" b="1" dirty="0"/>
          </a:p>
        </p:txBody>
      </p:sp>
      <p:pic>
        <p:nvPicPr>
          <p:cNvPr id="3" name="Picture 2">
            <a:extLst>
              <a:ext uri="{FF2B5EF4-FFF2-40B4-BE49-F238E27FC236}">
                <a16:creationId xmlns:a16="http://schemas.microsoft.com/office/drawing/2014/main" id="{69A40792-4EF3-8E67-8EB9-05EEB4ECEC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49" y="1544598"/>
            <a:ext cx="10934701" cy="5095340"/>
          </a:xfrm>
          <a:prstGeom prst="rect">
            <a:avLst/>
          </a:prstGeom>
        </p:spPr>
      </p:pic>
    </p:spTree>
    <p:extLst>
      <p:ext uri="{BB962C8B-B14F-4D97-AF65-F5344CB8AC3E}">
        <p14:creationId xmlns:p14="http://schemas.microsoft.com/office/powerpoint/2010/main" val="1614020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B18BC-531D-D7B0-00BD-A990D99CF736}"/>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5387999D-2E47-DC4B-BAF3-763E40245574}"/>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434E0F53-6EC1-5F0E-C455-8C4B068BB1AD}"/>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44E485A4-6057-B894-243F-2BBC10313D6D}"/>
              </a:ext>
            </a:extLst>
          </p:cNvPr>
          <p:cNvSpPr>
            <a:spLocks noGrp="1"/>
          </p:cNvSpPr>
          <p:nvPr>
            <p:ph idx="1"/>
          </p:nvPr>
        </p:nvSpPr>
        <p:spPr>
          <a:xfrm>
            <a:off x="302591" y="1017639"/>
            <a:ext cx="11586818" cy="526959"/>
          </a:xfrm>
        </p:spPr>
        <p:txBody>
          <a:bodyPr>
            <a:normAutofit fontScale="25000" lnSpcReduction="20000"/>
          </a:bodyPr>
          <a:lstStyle/>
          <a:p>
            <a:pPr marL="0" indent="0">
              <a:buNone/>
            </a:pPr>
            <a:r>
              <a:rPr lang="en-IN" sz="3200" b="1" dirty="0"/>
              <a:t> </a:t>
            </a:r>
          </a:p>
          <a:p>
            <a:pPr marL="0" indent="0">
              <a:buNone/>
            </a:pPr>
            <a:r>
              <a:rPr lang="en-IN" sz="7200" b="1" dirty="0">
                <a:latin typeface="Times New Roman" panose="02020603050405020304" pitchFamily="18" charset="0"/>
                <a:cs typeface="Times New Roman" panose="02020603050405020304" pitchFamily="18" charset="0"/>
              </a:rPr>
              <a:t>Simulation of AES Encryptor</a:t>
            </a:r>
            <a:endParaRPr lang="en-IN" sz="3200" b="1" dirty="0"/>
          </a:p>
          <a:p>
            <a:pPr marL="0" indent="0">
              <a:buNone/>
            </a:pPr>
            <a:endParaRPr lang="en-IN" sz="3200" b="1" dirty="0"/>
          </a:p>
        </p:txBody>
      </p:sp>
      <p:sp>
        <p:nvSpPr>
          <p:cNvPr id="2" name="AutoShape 2">
            <a:extLst>
              <a:ext uri="{FF2B5EF4-FFF2-40B4-BE49-F238E27FC236}">
                <a16:creationId xmlns:a16="http://schemas.microsoft.com/office/drawing/2014/main" id="{5D996291-1647-E38F-AB2A-19CE68DEF5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4B2F82CC-BC56-FC0D-0F7C-C9AAFC2ECCD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BA1AC7A6-A65B-BF72-AFD0-932C32D117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9889" y="1631347"/>
            <a:ext cx="11087421" cy="5059402"/>
          </a:xfrm>
          <a:prstGeom prst="rect">
            <a:avLst/>
          </a:prstGeom>
        </p:spPr>
      </p:pic>
    </p:spTree>
    <p:extLst>
      <p:ext uri="{BB962C8B-B14F-4D97-AF65-F5344CB8AC3E}">
        <p14:creationId xmlns:p14="http://schemas.microsoft.com/office/powerpoint/2010/main" val="40861545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74CC7-56F9-B9B0-2BDF-244559610096}"/>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4BB3B486-E78F-20DA-1495-600598B2AA6C}"/>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A2D4682E-62BB-116D-00A2-CD497DC71632}"/>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7EC30E86-4810-2AAD-7691-38760B65F4B5}"/>
              </a:ext>
            </a:extLst>
          </p:cNvPr>
          <p:cNvSpPr>
            <a:spLocks noGrp="1"/>
          </p:cNvSpPr>
          <p:nvPr>
            <p:ph idx="1"/>
          </p:nvPr>
        </p:nvSpPr>
        <p:spPr>
          <a:xfrm>
            <a:off x="359376" y="1137065"/>
            <a:ext cx="11586818" cy="526959"/>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Implementation </a:t>
            </a:r>
          </a:p>
          <a:p>
            <a:pPr marL="0" indent="0">
              <a:buNone/>
            </a:pPr>
            <a:endParaRPr lang="en-IN" sz="3200" b="1" dirty="0"/>
          </a:p>
        </p:txBody>
      </p:sp>
      <p:sp>
        <p:nvSpPr>
          <p:cNvPr id="2" name="AutoShape 2">
            <a:extLst>
              <a:ext uri="{FF2B5EF4-FFF2-40B4-BE49-F238E27FC236}">
                <a16:creationId xmlns:a16="http://schemas.microsoft.com/office/drawing/2014/main" id="{5FA679FE-663C-7C96-09E5-F8780FADD0B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9BD218FC-6F75-C62E-B952-A7FFBC05435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2">
            <a:extLst>
              <a:ext uri="{FF2B5EF4-FFF2-40B4-BE49-F238E27FC236}">
                <a16:creationId xmlns:a16="http://schemas.microsoft.com/office/drawing/2014/main" id="{464F5B4A-6EE3-6D74-AEAC-6BFBF9488AC9}"/>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6D617091-B970-35E2-A708-1C7265FB5F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8409" y="1664024"/>
            <a:ext cx="10019489" cy="4851076"/>
          </a:xfrm>
          <a:prstGeom prst="rect">
            <a:avLst/>
          </a:prstGeom>
        </p:spPr>
      </p:pic>
    </p:spTree>
    <p:extLst>
      <p:ext uri="{BB962C8B-B14F-4D97-AF65-F5344CB8AC3E}">
        <p14:creationId xmlns:p14="http://schemas.microsoft.com/office/powerpoint/2010/main" val="18651156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DE04-C36B-AA3B-93A3-318A45946844}"/>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E2A94007-EE47-A172-A035-ADDC5BF6B31D}"/>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3F98D182-CA72-B0BA-09A4-C7C541B73FDF}"/>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F6E3857A-09E5-1F29-9C1E-A5F69AAAC487}"/>
              </a:ext>
            </a:extLst>
          </p:cNvPr>
          <p:cNvSpPr>
            <a:spLocks noGrp="1"/>
          </p:cNvSpPr>
          <p:nvPr>
            <p:ph idx="1"/>
          </p:nvPr>
        </p:nvSpPr>
        <p:spPr>
          <a:xfrm>
            <a:off x="328400" y="1061964"/>
            <a:ext cx="11586818" cy="526959"/>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Implementation  details</a:t>
            </a:r>
          </a:p>
          <a:p>
            <a:pPr marL="0" indent="0">
              <a:buNone/>
            </a:pPr>
            <a:endParaRPr lang="en-IN" sz="3200" b="1" dirty="0"/>
          </a:p>
        </p:txBody>
      </p:sp>
      <p:sp>
        <p:nvSpPr>
          <p:cNvPr id="2" name="AutoShape 2">
            <a:extLst>
              <a:ext uri="{FF2B5EF4-FFF2-40B4-BE49-F238E27FC236}">
                <a16:creationId xmlns:a16="http://schemas.microsoft.com/office/drawing/2014/main" id="{572CF28C-F144-F80A-44F5-F2062321743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2857577C-C42D-D535-DABC-EC1BF9A65BEF}"/>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2">
            <a:extLst>
              <a:ext uri="{FF2B5EF4-FFF2-40B4-BE49-F238E27FC236}">
                <a16:creationId xmlns:a16="http://schemas.microsoft.com/office/drawing/2014/main" id="{FC0755F9-735E-2D57-51C8-09D2C68BC3E7}"/>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78F8E094-6B5E-D25D-F8BF-A1F30FF2F85E}"/>
              </a:ext>
            </a:extLst>
          </p:cNvPr>
          <p:cNvSpPr txBox="1"/>
          <p:nvPr/>
        </p:nvSpPr>
        <p:spPr>
          <a:xfrm>
            <a:off x="589700" y="1783450"/>
            <a:ext cx="10471826" cy="4832092"/>
          </a:xfrm>
          <a:prstGeom prst="rect">
            <a:avLst/>
          </a:prstGeom>
          <a:noFill/>
        </p:spPr>
        <p:txBody>
          <a:bodyPr wrap="square">
            <a:spAutoFit/>
          </a:bodyPr>
          <a:lstStyle/>
          <a:p>
            <a:pPr algn="just"/>
            <a:r>
              <a:rPr lang="en-US" sz="2200" dirty="0">
                <a:latin typeface="Times New Roman" panose="02020603050405020304" pitchFamily="18" charset="0"/>
                <a:cs typeface="Times New Roman" panose="02020603050405020304" pitchFamily="18" charset="0"/>
              </a:rPr>
              <a:t>AES was implemented successfully on a Spartan-6 FPGA, with verification and output observed virtually through Chipscope (Integrated Logic Analyzer – ILA). The design performed 128-bit encryption accurately, with the output ciphertexts matching the expected values, thereby confirming the functional correctness of the implementation. Resource usage remained within the tolerable limits of the Spartan-6 architecture, with efficient utilization of Look-Up Tables (LUTs), flip-flops (registers), and Block RAM (BRAM). The implementation operated reliably at a clock frequency of around 100 MHz, suitable for real-time cryptographic applications. Chipscope played a crucial role during the development phase by enabling real-time debugging and internal signal observation. It allowed designers to monitor key AES stages such as round transformations and key expansion, making the verification process more transparent and manageable. Overall, this project demonstrates that FPGA-based AES implementations are not only feasible but also highly secure, high-performance, and scalable, making them well-suited for embedded systems, data encryption modules, and secure communication applications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9457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40B2-31EE-FC0A-2863-EAFA6A1F29CC}"/>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B9BEA4CA-033D-0E5C-9912-4C00107F49DA}"/>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F4DD3257-F012-92F0-7B05-DDD3ED5BF5FE}"/>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1399661A-0411-C84F-66D1-EBFEB4BD64C4}"/>
              </a:ext>
            </a:extLst>
          </p:cNvPr>
          <p:cNvSpPr>
            <a:spLocks noGrp="1"/>
          </p:cNvSpPr>
          <p:nvPr>
            <p:ph idx="1"/>
          </p:nvPr>
        </p:nvSpPr>
        <p:spPr>
          <a:xfrm>
            <a:off x="359376" y="1137065"/>
            <a:ext cx="11586818" cy="526959"/>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Conclusion</a:t>
            </a:r>
          </a:p>
          <a:p>
            <a:pPr marL="0" indent="0">
              <a:buNone/>
            </a:pPr>
            <a:endParaRPr lang="en-IN" sz="1800" b="1" dirty="0">
              <a:latin typeface="Times New Roman" panose="02020603050405020304" pitchFamily="18" charset="0"/>
              <a:cs typeface="Times New Roman" panose="02020603050405020304" pitchFamily="18" charset="0"/>
            </a:endParaRPr>
          </a:p>
          <a:p>
            <a:pPr marL="0" indent="0">
              <a:buNone/>
            </a:pPr>
            <a:endParaRPr lang="en-IN" sz="1800" b="1" dirty="0">
              <a:latin typeface="Times New Roman" panose="02020603050405020304" pitchFamily="18" charset="0"/>
              <a:cs typeface="Times New Roman" panose="02020603050405020304" pitchFamily="18" charset="0"/>
            </a:endParaRPr>
          </a:p>
          <a:p>
            <a:pPr marL="0" indent="0">
              <a:buNone/>
            </a:pPr>
            <a:endParaRPr lang="en-IN" sz="3200" b="1" dirty="0"/>
          </a:p>
        </p:txBody>
      </p:sp>
      <p:sp>
        <p:nvSpPr>
          <p:cNvPr id="2" name="AutoShape 2">
            <a:extLst>
              <a:ext uri="{FF2B5EF4-FFF2-40B4-BE49-F238E27FC236}">
                <a16:creationId xmlns:a16="http://schemas.microsoft.com/office/drawing/2014/main" id="{62B61003-0244-5B8A-423F-BE7B8AF41A5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a:extLst>
              <a:ext uri="{FF2B5EF4-FFF2-40B4-BE49-F238E27FC236}">
                <a16:creationId xmlns:a16="http://schemas.microsoft.com/office/drawing/2014/main" id="{622830A6-41D9-2070-EF75-ED21D0B28E39}"/>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2">
            <a:extLst>
              <a:ext uri="{FF2B5EF4-FFF2-40B4-BE49-F238E27FC236}">
                <a16:creationId xmlns:a16="http://schemas.microsoft.com/office/drawing/2014/main" id="{E9A4B65C-B063-D8D9-BB5D-05E441465340}"/>
              </a:ext>
            </a:extLst>
          </p:cNvPr>
          <p:cNvSpPr>
            <a:spLocks noChangeAspect="1" noChangeArrowheads="1"/>
          </p:cNvSpPr>
          <p:nvPr/>
        </p:nvSpPr>
        <p:spPr bwMode="auto">
          <a:xfrm>
            <a:off x="6248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3511B0CE-9C47-5E72-DF52-21BE338E9B9E}"/>
              </a:ext>
            </a:extLst>
          </p:cNvPr>
          <p:cNvSpPr txBox="1"/>
          <p:nvPr/>
        </p:nvSpPr>
        <p:spPr>
          <a:xfrm>
            <a:off x="359376" y="1517037"/>
            <a:ext cx="11586818" cy="51398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project successfully implemented AES-128 encryption on an FPGA with Verilog HDL, and it showed the viability of hardware-based encryption for secure and efficient data protection. The fundamental AES operations—SubBytes, ShiftRows, MixColumns, AddRoundKey, and Key Expansion—were correctly modeled and added to a working encryption pipeline. One of the most important components of the work was real-time analysis of the system with Chip- Scope, which validated by monitoring signals that data was properly encrypted, sent, and re- ceived successfully, thus ensuring overall functioning of the system. Utilizing the FPGA’s low- latency and parallel processing capabilities, the design was both high performance and secure in nature, hence applicable for real-time and resource-limited systems like embedded systems and IoT applications. This project also underscores the validity of AES-128 as a widely accepted and universally reliedupon encryption technique for secure data protection on digital systems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Future Scope</a:t>
            </a:r>
          </a:p>
          <a:p>
            <a:pPr algn="just"/>
            <a:r>
              <a:rPr lang="en-US" sz="2000" dirty="0">
                <a:latin typeface="Times New Roman" panose="02020603050405020304" pitchFamily="18" charset="0"/>
                <a:cs typeface="Times New Roman" panose="02020603050405020304" pitchFamily="18" charset="0"/>
              </a:rPr>
              <a:t>The modular design is scalable to AES-192 and AES-256, and facilitates the adaptability of the design to be integrated within more elaborate cryptographic systems. Improvements in the future can be made in the areas of power minimization, side-channel attack resistance, and dynamic key management to further extend its applicability within these embedded and IoT systems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92929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6FE5B-D2C2-ED33-F7DB-48FF00126BC4}"/>
            </a:ext>
          </a:extLst>
        </p:cNvPr>
        <p:cNvGrpSpPr/>
        <p:nvPr/>
      </p:nvGrpSpPr>
      <p:grpSpPr>
        <a:xfrm>
          <a:off x="0" y="0"/>
          <a:ext cx="0" cy="0"/>
          <a:chOff x="0" y="0"/>
          <a:chExt cx="0" cy="0"/>
        </a:xfrm>
      </p:grpSpPr>
      <p:pic>
        <p:nvPicPr>
          <p:cNvPr id="4" name="object 2">
            <a:extLst>
              <a:ext uri="{FF2B5EF4-FFF2-40B4-BE49-F238E27FC236}">
                <a16:creationId xmlns:a16="http://schemas.microsoft.com/office/drawing/2014/main" id="{F2322CDB-5945-1E2D-B2DA-51A2B7E18F7F}"/>
              </a:ext>
            </a:extLst>
          </p:cNvPr>
          <p:cNvPicPr/>
          <p:nvPr/>
        </p:nvPicPr>
        <p:blipFill>
          <a:blip r:embed="rId3" cstate="print"/>
          <a:stretch>
            <a:fillRect/>
          </a:stretch>
        </p:blipFill>
        <p:spPr>
          <a:xfrm>
            <a:off x="297425" y="129151"/>
            <a:ext cx="5528188" cy="682010"/>
          </a:xfrm>
          <a:prstGeom prst="rect">
            <a:avLst/>
          </a:prstGeom>
        </p:spPr>
      </p:pic>
      <p:sp>
        <p:nvSpPr>
          <p:cNvPr id="5" name="object 3">
            <a:extLst>
              <a:ext uri="{FF2B5EF4-FFF2-40B4-BE49-F238E27FC236}">
                <a16:creationId xmlns:a16="http://schemas.microsoft.com/office/drawing/2014/main" id="{6E755BEC-85FD-DF21-BB5B-F0486C6FA8FE}"/>
              </a:ext>
            </a:extLst>
          </p:cNvPr>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a:extLst>
              <a:ext uri="{FF2B5EF4-FFF2-40B4-BE49-F238E27FC236}">
                <a16:creationId xmlns:a16="http://schemas.microsoft.com/office/drawing/2014/main" id="{E7A0B0DF-46EA-D3C3-3B00-59B363E22446}"/>
              </a:ext>
            </a:extLst>
          </p:cNvPr>
          <p:cNvSpPr>
            <a:spLocks noGrp="1"/>
          </p:cNvSpPr>
          <p:nvPr>
            <p:ph idx="1"/>
          </p:nvPr>
        </p:nvSpPr>
        <p:spPr>
          <a:xfrm>
            <a:off x="302591" y="1319134"/>
            <a:ext cx="11056375" cy="4857829"/>
          </a:xfrm>
        </p:spPr>
        <p:txBody>
          <a:bodyPr>
            <a:normAutofit/>
          </a:bodyPr>
          <a:lstStyle/>
          <a:p>
            <a:pPr marL="0" indent="0">
              <a:buNone/>
            </a:pPr>
            <a:r>
              <a:rPr lang="en-IN" sz="3200" b="1" dirty="0"/>
              <a:t> </a:t>
            </a:r>
          </a:p>
          <a:p>
            <a:pPr marL="0" indent="0">
              <a:buNone/>
            </a:pPr>
            <a:endParaRPr lang="en-IN" sz="3200" b="1" dirty="0"/>
          </a:p>
          <a:p>
            <a:pPr marL="0" indent="0">
              <a:buNone/>
            </a:pPr>
            <a:endParaRPr lang="en-IN" sz="3200" b="1" dirty="0"/>
          </a:p>
          <a:p>
            <a:pPr marL="0" indent="0">
              <a:buNone/>
            </a:pPr>
            <a:endParaRPr lang="en-IN" sz="3200" b="1" dirty="0"/>
          </a:p>
        </p:txBody>
      </p:sp>
      <p:sp>
        <p:nvSpPr>
          <p:cNvPr id="2" name="TextBox 1">
            <a:extLst>
              <a:ext uri="{FF2B5EF4-FFF2-40B4-BE49-F238E27FC236}">
                <a16:creationId xmlns:a16="http://schemas.microsoft.com/office/drawing/2014/main" id="{C60D566B-D149-0B17-9406-3B10BA7A05B7}"/>
              </a:ext>
            </a:extLst>
          </p:cNvPr>
          <p:cNvSpPr txBox="1"/>
          <p:nvPr/>
        </p:nvSpPr>
        <p:spPr>
          <a:xfrm>
            <a:off x="297425" y="1112656"/>
            <a:ext cx="6895476" cy="584775"/>
          </a:xfrm>
          <a:prstGeom prst="rect">
            <a:avLst/>
          </a:prstGeom>
          <a:noFill/>
        </p:spPr>
        <p:txBody>
          <a:bodyPr wrap="square" rtlCol="0">
            <a:spAutoFit/>
          </a:bodyPr>
          <a:lstStyle/>
          <a:p>
            <a:r>
              <a:rPr lang="en-IN" sz="3200" dirty="0">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79C38514-0740-D52A-5EEA-BA0269B2F5D7}"/>
              </a:ext>
            </a:extLst>
          </p:cNvPr>
          <p:cNvSpPr txBox="1"/>
          <p:nvPr/>
        </p:nvSpPr>
        <p:spPr>
          <a:xfrm>
            <a:off x="291863" y="1682599"/>
            <a:ext cx="11280543" cy="3138170"/>
          </a:xfrm>
          <a:prstGeom prst="rect">
            <a:avLst/>
          </a:prstGeom>
          <a:noFill/>
        </p:spPr>
        <p:txBody>
          <a:bodyPr wrap="square" rtlCol="0">
            <a:spAutoFit/>
          </a:bodyPr>
          <a:lstStyle/>
          <a:p>
            <a:pPr algn="just"/>
            <a:r>
              <a:rPr lang="en-US" altLang="en-US" dirty="0">
                <a:latin typeface="Times New Roman" panose="02020603050405020304" pitchFamily="18" charset="0"/>
                <a:cs typeface="Times New Roman" panose="02020603050405020304" pitchFamily="18" charset="0"/>
              </a:rPr>
              <a:t>[1] “Advanced Encryption Standard, Federal Information Processing Standards 197”, National Institute of Standards and</a:t>
            </a:r>
          </a:p>
          <a:p>
            <a:pPr algn="just"/>
            <a:r>
              <a:rPr lang="en-US" altLang="en-US" dirty="0">
                <a:latin typeface="Times New Roman" panose="02020603050405020304" pitchFamily="18" charset="0"/>
                <a:cs typeface="Times New Roman" panose="02020603050405020304" pitchFamily="18" charset="0"/>
              </a:rPr>
              <a:t>Technology, November 2001.</a:t>
            </a:r>
          </a:p>
          <a:p>
            <a:pPr algn="just"/>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[2] Abhiram.L.S, Gowrav.L, Punith Kumar.H.L, Sriroop.B.K,Manjunath C Lakkannavar, “Design and Synthesis of Dual</a:t>
            </a:r>
          </a:p>
          <a:p>
            <a:pPr algn="just"/>
            <a:r>
              <a:rPr lang="en-US" altLang="en-US" dirty="0">
                <a:latin typeface="Times New Roman" panose="02020603050405020304" pitchFamily="18" charset="0"/>
                <a:cs typeface="Times New Roman" panose="02020603050405020304" pitchFamily="18" charset="0"/>
              </a:rPr>
              <a:t>Key based AES Encryption”, IC2014 conference, MSRIT,2014.</a:t>
            </a:r>
          </a:p>
          <a:p>
            <a:pPr algn="just"/>
            <a:endParaRPr lang="en-US" altLang="en-US" dirty="0">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sym typeface="+mn-ea"/>
              </a:rPr>
              <a:t>[3] Marko Mali, Franc Novak and Anton Biasizzo “Hardware Implementation of AES Algorithm” –Journal of ELECTRICALENGINEERING, Vol. 56, No. 9-10, 2005, 265-269.</a:t>
            </a:r>
          </a:p>
          <a:p>
            <a:pPr marL="0" indent="0">
              <a:buNone/>
            </a:pPr>
            <a:endParaRPr lang="en-US" altLang="en-US" dirty="0">
              <a:latin typeface="Times New Roman" panose="02020603050405020304" pitchFamily="18" charset="0"/>
              <a:cs typeface="Times New Roman" panose="02020603050405020304" pitchFamily="18" charset="0"/>
            </a:endParaRPr>
          </a:p>
          <a:p>
            <a:pPr marL="0" indent="0">
              <a:buNone/>
            </a:pPr>
            <a:r>
              <a:rPr lang="en-US" altLang="en-US" dirty="0">
                <a:latin typeface="Times New Roman" panose="02020603050405020304" pitchFamily="18" charset="0"/>
                <a:cs typeface="Times New Roman" panose="02020603050405020304" pitchFamily="18" charset="0"/>
                <a:sym typeface="+mn-ea"/>
              </a:rPr>
              <a:t>[4] Behrouz A. Forouzan and Debdeep Mukhopadhyay “Cryptography and Network Security” (2nd edition).</a:t>
            </a:r>
            <a:endParaRPr lang="en-US" altLang="en-US" dirty="0">
              <a:latin typeface="Times New Roman" panose="02020603050405020304" pitchFamily="18" charset="0"/>
              <a:cs typeface="Times New Roman" panose="02020603050405020304" pitchFamily="18" charset="0"/>
            </a:endParaRPr>
          </a:p>
          <a:p>
            <a:pPr algn="just"/>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8185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p:cNvPicPr/>
          <p:nvPr/>
        </p:nvPicPr>
        <p:blipFill>
          <a:blip r:embed="rId3" cstate="print"/>
          <a:stretch>
            <a:fillRect/>
          </a:stretch>
        </p:blipFill>
        <p:spPr>
          <a:xfrm>
            <a:off x="297425" y="129151"/>
            <a:ext cx="5528188" cy="682010"/>
          </a:xfrm>
          <a:prstGeom prst="rect">
            <a:avLst/>
          </a:prstGeom>
        </p:spPr>
      </p:pic>
      <p:sp>
        <p:nvSpPr>
          <p:cNvPr id="5" name="object 3"/>
          <p:cNvSpPr/>
          <p:nvPr/>
        </p:nvSpPr>
        <p:spPr>
          <a:xfrm>
            <a:off x="297425" y="932221"/>
            <a:ext cx="11648769" cy="85418"/>
          </a:xfrm>
          <a:custGeom>
            <a:avLst/>
            <a:gdLst/>
            <a:ahLst/>
            <a:cxnLst/>
            <a:rect l="l" t="t" r="r" b="b"/>
            <a:pathLst>
              <a:path w="7924800" h="38100">
                <a:moveTo>
                  <a:pt x="7924800" y="30480"/>
                </a:moveTo>
                <a:lnTo>
                  <a:pt x="0" y="30480"/>
                </a:lnTo>
                <a:lnTo>
                  <a:pt x="0" y="38100"/>
                </a:lnTo>
                <a:lnTo>
                  <a:pt x="7924800" y="38100"/>
                </a:lnTo>
                <a:lnTo>
                  <a:pt x="7924800" y="30480"/>
                </a:lnTo>
                <a:close/>
              </a:path>
              <a:path w="7924800" h="38100">
                <a:moveTo>
                  <a:pt x="7924800" y="0"/>
                </a:moveTo>
                <a:lnTo>
                  <a:pt x="0" y="0"/>
                </a:lnTo>
                <a:lnTo>
                  <a:pt x="0" y="22860"/>
                </a:lnTo>
                <a:lnTo>
                  <a:pt x="7924800" y="22860"/>
                </a:lnTo>
                <a:lnTo>
                  <a:pt x="7924800" y="0"/>
                </a:lnTo>
                <a:close/>
              </a:path>
            </a:pathLst>
          </a:custGeom>
          <a:solidFill>
            <a:srgbClr val="006FC0"/>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p>
        </p:txBody>
      </p:sp>
      <p:sp>
        <p:nvSpPr>
          <p:cNvPr id="10" name="Content Placeholder 9"/>
          <p:cNvSpPr>
            <a:spLocks noGrp="1"/>
          </p:cNvSpPr>
          <p:nvPr>
            <p:ph idx="1"/>
          </p:nvPr>
        </p:nvSpPr>
        <p:spPr>
          <a:xfrm>
            <a:off x="302591" y="1319134"/>
            <a:ext cx="11056375" cy="4857829"/>
          </a:xfrm>
        </p:spPr>
        <p:txBody>
          <a:bodyPr>
            <a:normAutofit/>
          </a:bodyPr>
          <a:lstStyle/>
          <a:p>
            <a:pPr marL="0" indent="0">
              <a:buNone/>
            </a:pPr>
            <a:r>
              <a:rPr lang="en-IN" sz="3200" b="1" dirty="0"/>
              <a:t> </a:t>
            </a:r>
          </a:p>
          <a:p>
            <a:pPr marL="0" indent="0">
              <a:buNone/>
            </a:pPr>
            <a:endParaRPr lang="en-IN" sz="3200" b="1" dirty="0"/>
          </a:p>
          <a:p>
            <a:pPr marL="0" indent="0">
              <a:buNone/>
            </a:pPr>
            <a:endParaRPr lang="en-IN" sz="3200" b="1" dirty="0"/>
          </a:p>
          <a:p>
            <a:pPr marL="0" indent="0">
              <a:buNone/>
            </a:pPr>
            <a:endParaRPr lang="en-IN" sz="3200" b="1" dirty="0"/>
          </a:p>
        </p:txBody>
      </p:sp>
      <p:sp>
        <p:nvSpPr>
          <p:cNvPr id="2" name="TextBox 1"/>
          <p:cNvSpPr txBox="1"/>
          <p:nvPr/>
        </p:nvSpPr>
        <p:spPr>
          <a:xfrm>
            <a:off x="3294257" y="2921168"/>
            <a:ext cx="6895476" cy="1015663"/>
          </a:xfrm>
          <a:prstGeom prst="rect">
            <a:avLst/>
          </a:prstGeom>
          <a:noFill/>
        </p:spPr>
        <p:txBody>
          <a:bodyPr wrap="square" rtlCol="0">
            <a:spAutoFit/>
          </a:bodyPr>
          <a:lstStyle/>
          <a:p>
            <a:r>
              <a:rPr lang="en-IN" sz="60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TotalTime>
  <Words>3508</Words>
  <Application>Microsoft Office PowerPoint</Application>
  <PresentationFormat>Widescreen</PresentationFormat>
  <Paragraphs>392</Paragraphs>
  <Slides>44</Slides>
  <Notes>42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44</vt:i4>
      </vt:variant>
    </vt:vector>
  </HeadingPairs>
  <TitlesOfParts>
    <vt:vector size="52" baseType="lpstr">
      <vt:lpstr>Aptos</vt:lpstr>
      <vt:lpstr>Aptos Display</vt:lpstr>
      <vt:lpstr>Arial</vt:lpstr>
      <vt:lpstr>Arial MT</vt:lpstr>
      <vt:lpstr>Times New Roman</vt:lpstr>
      <vt:lpstr>Wingdings</vt:lpstr>
      <vt:lpstr>Office Theme</vt:lpstr>
      <vt:lpstr>1_Office Theme</vt:lpstr>
      <vt:lpstr>                                            TEAM NO : 26 TITLE : FPGA IMPLEMENTATION OF AES ALGORITHM   </vt:lpstr>
      <vt:lpstr>CONTENTS :</vt:lpstr>
      <vt:lpstr>HISTORY</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NO : 26 TITLE : IMPLEMENTATION OF AES ALGORITHM ON FPGA</dc:title>
  <dc:creator>dsumaa44@gmail.com</dc:creator>
  <cp:lastModifiedBy>DELL</cp:lastModifiedBy>
  <cp:revision>51</cp:revision>
  <dcterms:created xsi:type="dcterms:W3CDTF">2025-01-05T09:04:00Z</dcterms:created>
  <dcterms:modified xsi:type="dcterms:W3CDTF">2025-06-29T13:46:56Z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C472A3E2AFC9473295BD53D8FBD84595_13</vt:lpwstr>
  </property>
  <property fmtid="{D5CDD505-2E9C-101B-9397-08002B2CF9AE}" pid="3" name="KSOProductBuildVer">
    <vt:lpwstr>1033-12.2.0.20326</vt:lpwstr>
  </property>
</Properties>
</file>